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92" r:id="rId18"/>
    <p:sldId id="272" r:id="rId19"/>
    <p:sldId id="283" r:id="rId20"/>
    <p:sldId id="273" r:id="rId21"/>
    <p:sldId id="274" r:id="rId22"/>
    <p:sldId id="284" r:id="rId23"/>
    <p:sldId id="285" r:id="rId24"/>
    <p:sldId id="275" r:id="rId25"/>
    <p:sldId id="276" r:id="rId26"/>
    <p:sldId id="277" r:id="rId27"/>
    <p:sldId id="278" r:id="rId28"/>
    <p:sldId id="279" r:id="rId29"/>
    <p:sldId id="280" r:id="rId30"/>
    <p:sldId id="286" r:id="rId31"/>
    <p:sldId id="287" r:id="rId32"/>
    <p:sldId id="288" r:id="rId33"/>
    <p:sldId id="281" r:id="rId34"/>
    <p:sldId id="282" r:id="rId35"/>
    <p:sldId id="291" r:id="rId36"/>
    <p:sldId id="293" r:id="rId3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BAF092-A879-46E9-9DF7-5D4C817F1623}" type="datetimeFigureOut">
              <a:rPr lang="tr-TR" smtClean="0"/>
              <a:t>17.03.2026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E6A84-CC47-40FF-B103-06C17068FA5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3597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Zaman kalırsa </a:t>
            </a:r>
            <a:r>
              <a:rPr lang="tr-TR" dirty="0" err="1" smtClean="0"/>
              <a:t>proteusta</a:t>
            </a:r>
            <a:r>
              <a:rPr lang="tr-TR" dirty="0" smtClean="0"/>
              <a:t> bu devreyi kur göster!!!!!!!!!!!!!!!!!!!!!!!!!!!!!!!!!!!!!!!!!!!!!!!1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E6A84-CC47-40FF-B103-06C17068FA54}" type="slidenum">
              <a:rPr lang="tr-TR" smtClean="0"/>
              <a:t>34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0391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C0E0F-0B09-4AC3-A291-035ED0D8CC6E}" type="datetime1">
              <a:rPr lang="tr-TR" smtClean="0"/>
              <a:t>17.03.2026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56508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6D7F7-8797-4CCB-A9C0-56F693D214A0}" type="datetime1">
              <a:rPr lang="tr-TR" smtClean="0"/>
              <a:t>17.03.2026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7995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24FFC-802A-4490-B4D9-890A376E94A0}" type="datetime1">
              <a:rPr lang="tr-TR" smtClean="0"/>
              <a:t>17.03.2026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54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5882D-7D0B-49C7-8627-453A21DCF906}" type="datetime1">
              <a:rPr lang="tr-TR" smtClean="0"/>
              <a:t>17.03.2026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31747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3888-0E85-43C2-B52A-CBE30E333A3E}" type="datetime1">
              <a:rPr lang="tr-TR" smtClean="0"/>
              <a:t>17.03.2026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8118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3A3-4580-4030-817D-DE4B4CA47714}" type="datetime1">
              <a:rPr lang="tr-TR" smtClean="0"/>
              <a:t>17.03.2026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2094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9739F-A210-454F-9A92-7FFFD0CC3252}" type="datetime1">
              <a:rPr lang="tr-TR" smtClean="0"/>
              <a:t>17.03.2026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51449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E1BB-2837-42E2-9862-B6D5221EE41C}" type="datetime1">
              <a:rPr lang="tr-TR" smtClean="0"/>
              <a:t>17.03.2026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06846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7253B-EAFE-4F6E-B366-5902A5741413}" type="datetime1">
              <a:rPr lang="tr-TR" smtClean="0"/>
              <a:t>17.03.2026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19081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858E-0D0D-43D7-AE53-2A47C68442D6}" type="datetime1">
              <a:rPr lang="tr-TR" smtClean="0"/>
              <a:t>17.03.2026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2202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A69B7-704D-4E54-ABAA-43C9DF101D8A}" type="datetime1">
              <a:rPr lang="tr-TR" smtClean="0"/>
              <a:t>17.03.2026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92742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84105-2F11-4567-839E-A54AE68F88EE}" type="datetime1">
              <a:rPr lang="tr-TR" smtClean="0"/>
              <a:t>17.03.2026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A25540-BBE7-44BF-A83E-E26D84B3FA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9076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ELEKTRİK DEVRE TEMELLERİ DERS NOTLARI 2. HAFTA 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 smtClean="0"/>
          </a:p>
          <a:p>
            <a:r>
              <a:rPr lang="tr-TR" dirty="0" smtClean="0"/>
              <a:t>Dirençli Devreler-1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59549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DİRENÇLİ DEVRELER 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 smtClean="0"/>
              <a:t>Ohm</a:t>
            </a:r>
            <a:r>
              <a:rPr lang="tr-TR" dirty="0" smtClean="0"/>
              <a:t> kanunu </a:t>
            </a:r>
          </a:p>
          <a:p>
            <a:r>
              <a:rPr lang="tr-TR" dirty="0" err="1" smtClean="0"/>
              <a:t>Kirchhoff</a:t>
            </a:r>
            <a:r>
              <a:rPr lang="tr-TR" dirty="0" smtClean="0"/>
              <a:t> kanunları </a:t>
            </a:r>
          </a:p>
          <a:p>
            <a:r>
              <a:rPr lang="tr-TR" dirty="0" smtClean="0"/>
              <a:t>Gerilim bölücüler </a:t>
            </a:r>
          </a:p>
          <a:p>
            <a:r>
              <a:rPr lang="tr-TR" dirty="0" smtClean="0"/>
              <a:t>Akım bölücüler </a:t>
            </a:r>
          </a:p>
          <a:p>
            <a:r>
              <a:rPr lang="tr-TR" dirty="0" smtClean="0"/>
              <a:t>Dirençlerin seri ve paralel bağlanması </a:t>
            </a:r>
          </a:p>
          <a:p>
            <a:r>
              <a:rPr lang="tr-TR" dirty="0" smtClean="0"/>
              <a:t>Dirençlerin karışık bağlanması </a:t>
            </a:r>
          </a:p>
          <a:p>
            <a:r>
              <a:rPr lang="tr-TR" dirty="0" smtClean="0"/>
              <a:t>Bağımlı kaynaklı devreler </a:t>
            </a:r>
          </a:p>
          <a:p>
            <a:r>
              <a:rPr lang="tr-TR" dirty="0" smtClean="0"/>
              <a:t>Özet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55716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Dirençler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Direnç elektrik enerjisi harcayan devre elemanıdır(genellikle ısı olarak) </a:t>
            </a:r>
          </a:p>
          <a:p>
            <a:r>
              <a:rPr lang="tr-TR" dirty="0" smtClean="0"/>
              <a:t>Genelde cihazlar dirençlerle modellenir: Ampuller, ısıtıcı elemanlar (sobalar, ısıtıcılar, vs.) </a:t>
            </a:r>
          </a:p>
          <a:p>
            <a:r>
              <a:rPr lang="tr-TR" dirty="0" smtClean="0"/>
              <a:t>Direnç </a:t>
            </a:r>
            <a:r>
              <a:rPr lang="tr-TR" dirty="0" err="1" smtClean="0"/>
              <a:t>Ohm</a:t>
            </a:r>
            <a:r>
              <a:rPr lang="tr-TR" dirty="0" smtClean="0"/>
              <a:t>(</a:t>
            </a:r>
            <a:r>
              <a:rPr lang="el-GR" dirty="0" smtClean="0"/>
              <a:t>Ω) </a:t>
            </a:r>
            <a:r>
              <a:rPr lang="tr-TR" dirty="0" smtClean="0"/>
              <a:t>olarak ölçülür. 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6251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Ohm</a:t>
            </a:r>
            <a:r>
              <a:rPr lang="tr-TR" dirty="0" smtClean="0"/>
              <a:t> Kanunu 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Direncin iki ucu arasındaki gerilimin, direncin içinden geçen akım ile doğru orantılı olduğunu ifade eder.</a:t>
            </a:r>
          </a:p>
          <a:p>
            <a:r>
              <a:rPr lang="pt-BR" dirty="0" smtClean="0"/>
              <a:t>v(t) = i(t)*R veya V = I*R </a:t>
            </a:r>
            <a:endParaRPr lang="tr-TR" dirty="0" smtClean="0"/>
          </a:p>
          <a:p>
            <a:r>
              <a:rPr lang="tr-TR" dirty="0" smtClean="0"/>
              <a:t>p(t) = v(t) i(t)= i</a:t>
            </a:r>
            <a:r>
              <a:rPr lang="tr-TR" baseline="30000" dirty="0" smtClean="0"/>
              <a:t>2 </a:t>
            </a:r>
            <a:r>
              <a:rPr lang="tr-TR" dirty="0" smtClean="0"/>
              <a:t>(t) R = v</a:t>
            </a:r>
            <a:r>
              <a:rPr lang="tr-TR" baseline="30000" dirty="0" smtClean="0"/>
              <a:t>2</a:t>
            </a:r>
            <a:r>
              <a:rPr lang="tr-TR" dirty="0" smtClean="0"/>
              <a:t> (t)/R     [+ (güç tüketiyor)] 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4" y="4110300"/>
            <a:ext cx="2147641" cy="1840835"/>
          </a:xfrm>
          <a:prstGeom prst="rect">
            <a:avLst/>
          </a:prstGeom>
        </p:spPr>
      </p:pic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704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Açık Devre 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R=∞ ise ne olur? </a:t>
            </a:r>
          </a:p>
          <a:p>
            <a:r>
              <a:rPr lang="tr-TR" dirty="0" smtClean="0"/>
              <a:t>i(t) = v(t)/R = 0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25" y="3177266"/>
            <a:ext cx="1509067" cy="1992890"/>
          </a:xfrm>
          <a:prstGeom prst="rect">
            <a:avLst/>
          </a:prstGeom>
        </p:spPr>
      </p:pic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55347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Kısa Devre 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R=0 ise ne olur? </a:t>
            </a:r>
          </a:p>
          <a:p>
            <a:r>
              <a:rPr lang="tr-TR" dirty="0" smtClean="0"/>
              <a:t>v(t) = R i(t) = 0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86" y="3187842"/>
            <a:ext cx="1842098" cy="1729775"/>
          </a:xfrm>
          <a:prstGeom prst="rect">
            <a:avLst/>
          </a:prstGeom>
        </p:spPr>
      </p:pic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3397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19150" y="-339725"/>
            <a:ext cx="10515600" cy="1325563"/>
          </a:xfrm>
        </p:spPr>
        <p:txBody>
          <a:bodyPr/>
          <a:lstStyle/>
          <a:p>
            <a:r>
              <a:rPr lang="tr-TR" dirty="0" err="1" smtClean="0"/>
              <a:t>Kirchhoff</a:t>
            </a:r>
            <a:r>
              <a:rPr lang="tr-TR" dirty="0" smtClean="0"/>
              <a:t> Kanunları 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66724" y="885824"/>
            <a:ext cx="11572875" cy="3937001"/>
          </a:xfrm>
        </p:spPr>
        <p:txBody>
          <a:bodyPr/>
          <a:lstStyle/>
          <a:p>
            <a:r>
              <a:rPr lang="tr-TR" b="1" dirty="0" smtClean="0"/>
              <a:t>Düğüm: </a:t>
            </a:r>
            <a:r>
              <a:rPr lang="tr-TR" dirty="0" smtClean="0"/>
              <a:t>İki ya da daha fazla devre elemanının birbirine bağlandığı noktadır. </a:t>
            </a:r>
          </a:p>
          <a:p>
            <a:r>
              <a:rPr lang="tr-TR" b="1" dirty="0" smtClean="0"/>
              <a:t>Çevre: </a:t>
            </a:r>
            <a:r>
              <a:rPr lang="tr-TR" dirty="0" smtClean="0"/>
              <a:t>Hiçbir düğümden birden fazla geçiş olmayan kapalı bir yoldur. </a:t>
            </a:r>
          </a:p>
          <a:p>
            <a:r>
              <a:rPr lang="tr-TR" b="1" dirty="0" smtClean="0"/>
              <a:t>Kol: </a:t>
            </a:r>
            <a:r>
              <a:rPr lang="tr-TR" dirty="0" smtClean="0"/>
              <a:t>Yalnızca bir devre elemanı içeren ve elemanın her ucu düğümlerde olan devre parçasıdır.</a:t>
            </a:r>
          </a:p>
          <a:p>
            <a:r>
              <a:rPr lang="tr-TR" b="1" dirty="0" smtClean="0"/>
              <a:t>Göz: </a:t>
            </a:r>
            <a:r>
              <a:rPr lang="tr-TR" dirty="0" smtClean="0"/>
              <a:t>Herhangi bir kol tarafından bölünmeyen çevreye denir. </a:t>
            </a:r>
            <a:endParaRPr lang="tr-TR" dirty="0"/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020" y="3345659"/>
            <a:ext cx="4091205" cy="3512341"/>
          </a:xfrm>
          <a:prstGeom prst="rect">
            <a:avLst/>
          </a:prstGeom>
        </p:spPr>
      </p:pic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897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Kirchhoff</a:t>
            </a:r>
            <a:r>
              <a:rPr lang="tr-TR" dirty="0" smtClean="0"/>
              <a:t> Kanunları 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 smtClean="0"/>
              <a:t>Kirchhoff’un</a:t>
            </a:r>
            <a:r>
              <a:rPr lang="tr-TR" b="1" dirty="0" smtClean="0"/>
              <a:t> Akımlar Kanunu (KAK) </a:t>
            </a:r>
          </a:p>
          <a:p>
            <a:pPr marL="457200" lvl="1" indent="0">
              <a:buNone/>
            </a:pPr>
            <a:r>
              <a:rPr lang="tr-TR" dirty="0" smtClean="0"/>
              <a:t>–Bir düğüme giren/çıkan akımlar toplamı sıfırdır </a:t>
            </a:r>
          </a:p>
          <a:p>
            <a:pPr marL="457200" lvl="1" indent="0">
              <a:buNone/>
            </a:pPr>
            <a:r>
              <a:rPr lang="tr-TR" dirty="0" smtClean="0"/>
              <a:t>–Bir düğüme giren akımların toplamı çıkan akımların toplamına eşittir. </a:t>
            </a:r>
          </a:p>
          <a:p>
            <a:r>
              <a:rPr lang="tr-TR" b="1" dirty="0" err="1" smtClean="0"/>
              <a:t>Kirchhoff’un</a:t>
            </a:r>
            <a:r>
              <a:rPr lang="tr-TR" b="1" dirty="0" smtClean="0"/>
              <a:t> Gerilimler Kanunu (KGK) </a:t>
            </a:r>
          </a:p>
          <a:p>
            <a:pPr marL="457200" lvl="1" indent="0">
              <a:buNone/>
            </a:pPr>
            <a:r>
              <a:rPr lang="tr-TR" dirty="0" smtClean="0"/>
              <a:t>–Kapalı bir döngüdeki gerilimler toplamı sıfırdır.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32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Kirchhoff’un</a:t>
            </a:r>
            <a:r>
              <a:rPr lang="tr-TR" b="1" dirty="0"/>
              <a:t> Akımlar Kanunu (KAK)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30" y="1690687"/>
            <a:ext cx="5979339" cy="4484503"/>
          </a:xfrm>
        </p:spPr>
      </p:pic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36717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96" y="1602764"/>
            <a:ext cx="4861896" cy="4604136"/>
          </a:xfrm>
        </p:spPr>
      </p:pic>
      <p:sp>
        <p:nvSpPr>
          <p:cNvPr id="6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tr-TR" b="1" dirty="0" err="1"/>
              <a:t>Kirchhoff’un</a:t>
            </a:r>
            <a:r>
              <a:rPr lang="tr-TR" b="1" dirty="0"/>
              <a:t> Akımlar Kanunu (KAK)</a:t>
            </a:r>
            <a:endParaRPr lang="tr-TR" dirty="0"/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3281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84686"/>
            <a:ext cx="6210332" cy="3443452"/>
          </a:xfrm>
        </p:spPr>
      </p:pic>
      <p:sp>
        <p:nvSpPr>
          <p:cNvPr id="5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tr-TR" b="1" dirty="0" err="1"/>
              <a:t>Kirchhoff’un</a:t>
            </a:r>
            <a:r>
              <a:rPr lang="tr-TR" b="1" dirty="0"/>
              <a:t> Akımlar Kanunu (KAK)</a:t>
            </a:r>
            <a:endParaRPr lang="tr-TR" dirty="0"/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014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KAK-İki Uçlu Elemanlar </a:t>
            </a:r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 smtClean="0"/>
          </a:p>
          <a:p>
            <a:r>
              <a:rPr lang="tr-TR" dirty="0" err="1" smtClean="0"/>
              <a:t>I</a:t>
            </a:r>
            <a:r>
              <a:rPr lang="tr-TR" sz="1600" dirty="0" err="1" smtClean="0"/>
              <a:t>kaynak</a:t>
            </a:r>
            <a:r>
              <a:rPr lang="tr-TR" dirty="0" smtClean="0"/>
              <a:t> </a:t>
            </a:r>
            <a:r>
              <a:rPr lang="tr-TR" dirty="0"/>
              <a:t>kaynağa giren ve çıkan akımı ifade etmektedir </a:t>
            </a:r>
            <a:endParaRPr lang="tr-TR" dirty="0" smtClean="0"/>
          </a:p>
          <a:p>
            <a:r>
              <a:rPr lang="tr-TR" dirty="0" smtClean="0"/>
              <a:t>I</a:t>
            </a:r>
            <a:r>
              <a:rPr lang="tr-TR" sz="1600" dirty="0" smtClean="0"/>
              <a:t>R</a:t>
            </a:r>
            <a:r>
              <a:rPr lang="tr-TR" dirty="0" smtClean="0"/>
              <a:t> </a:t>
            </a:r>
            <a:r>
              <a:rPr lang="tr-TR" dirty="0"/>
              <a:t>dirence giren ve çıkan akımı ifade etmektedir.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247" y="2789611"/>
            <a:ext cx="5801535" cy="1648055"/>
          </a:xfrm>
          <a:prstGeom prst="rect">
            <a:avLst/>
          </a:prstGeom>
        </p:spPr>
      </p:pic>
      <p:sp>
        <p:nvSpPr>
          <p:cNvPr id="6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tr-TR" b="1" dirty="0" err="1"/>
              <a:t>Kirchhoff’un</a:t>
            </a:r>
            <a:r>
              <a:rPr lang="tr-TR" b="1" dirty="0"/>
              <a:t> Akımlar Kanunu (KAK)</a:t>
            </a:r>
            <a:endParaRPr lang="tr-TR" dirty="0"/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3729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37935"/>
            <a:ext cx="5020376" cy="2638793"/>
          </a:xfrm>
        </p:spPr>
      </p:pic>
      <p:sp>
        <p:nvSpPr>
          <p:cNvPr id="5" name="Unvan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b="1" smtClean="0"/>
              <a:t>Kirchhoff’un Akımlar Kanunu (KAK)</a:t>
            </a:r>
            <a:endParaRPr lang="tr-TR" dirty="0"/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25598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543" y="1690688"/>
            <a:ext cx="4605195" cy="4466966"/>
          </a:xfr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738" y="2301699"/>
            <a:ext cx="6000650" cy="3244944"/>
          </a:xfrm>
          <a:prstGeom prst="rect">
            <a:avLst/>
          </a:prstGeom>
        </p:spPr>
      </p:pic>
      <p:sp>
        <p:nvSpPr>
          <p:cNvPr id="6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tr-TR" b="1" dirty="0" err="1"/>
              <a:t>Kirchhoff’un</a:t>
            </a:r>
            <a:r>
              <a:rPr lang="tr-TR" b="1" dirty="0"/>
              <a:t> Akımlar Kanunu (KAK)</a:t>
            </a:r>
            <a:endParaRPr lang="tr-TR" dirty="0"/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76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17816"/>
            <a:ext cx="5029902" cy="2391109"/>
          </a:xfr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355" y="1422141"/>
            <a:ext cx="4190298" cy="4982457"/>
          </a:xfrm>
          <a:prstGeom prst="rect">
            <a:avLst/>
          </a:prstGeom>
        </p:spPr>
      </p:pic>
      <p:sp>
        <p:nvSpPr>
          <p:cNvPr id="6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tr-TR" b="1" dirty="0" err="1"/>
              <a:t>Kirchhoff’un</a:t>
            </a:r>
            <a:r>
              <a:rPr lang="tr-TR" b="1" dirty="0"/>
              <a:t> Akımlar Kanunu (KAK)</a:t>
            </a:r>
            <a:endParaRPr lang="tr-TR" dirty="0"/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23304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810" y="1690688"/>
            <a:ext cx="4295551" cy="4351338"/>
          </a:xfrm>
        </p:spPr>
      </p:pic>
      <p:sp>
        <p:nvSpPr>
          <p:cNvPr id="6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tr-TR" b="1" dirty="0" err="1"/>
              <a:t>Kirchhoff’un</a:t>
            </a:r>
            <a:r>
              <a:rPr lang="tr-TR" b="1" dirty="0"/>
              <a:t> Akımlar Kanunu (KAK)</a:t>
            </a:r>
            <a:endParaRPr lang="tr-TR" dirty="0"/>
          </a:p>
        </p:txBody>
      </p:sp>
      <p:sp>
        <p:nvSpPr>
          <p:cNvPr id="2" name="Dikdörtgen 1"/>
          <p:cNvSpPr/>
          <p:nvPr/>
        </p:nvSpPr>
        <p:spPr>
          <a:xfrm>
            <a:off x="4757782" y="6153789"/>
            <a:ext cx="12698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 err="1" smtClean="0"/>
              <a:t>Iz</a:t>
            </a:r>
            <a:r>
              <a:rPr lang="tr-TR" dirty="0" smtClean="0"/>
              <a:t> = 3+1=4A</a:t>
            </a:r>
            <a:endParaRPr lang="tr-TR" dirty="0"/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30494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621" y="966413"/>
            <a:ext cx="5027369" cy="4800345"/>
          </a:xfrm>
        </p:spPr>
      </p:pic>
      <p:sp>
        <p:nvSpPr>
          <p:cNvPr id="7" name="Unvan 1"/>
          <p:cNvSpPr>
            <a:spLocks noGrp="1"/>
          </p:cNvSpPr>
          <p:nvPr>
            <p:ph type="title"/>
          </p:nvPr>
        </p:nvSpPr>
        <p:spPr>
          <a:xfrm>
            <a:off x="0" y="1"/>
            <a:ext cx="9164320" cy="790448"/>
          </a:xfrm>
        </p:spPr>
        <p:txBody>
          <a:bodyPr/>
          <a:lstStyle/>
          <a:p>
            <a:r>
              <a:rPr lang="tr-TR" b="1" dirty="0" err="1"/>
              <a:t>Kirchhoff’un</a:t>
            </a:r>
            <a:r>
              <a:rPr lang="tr-TR" b="1" dirty="0"/>
              <a:t> Akımlar Kanunu (KAK)</a:t>
            </a:r>
            <a:endParaRPr lang="tr-TR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01" y="1245775"/>
            <a:ext cx="5306165" cy="2753109"/>
          </a:xfrm>
          <a:prstGeom prst="rect">
            <a:avLst/>
          </a:prstGeom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518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9" y="1347240"/>
            <a:ext cx="5721385" cy="3555500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333" y="957424"/>
            <a:ext cx="4674328" cy="3809128"/>
          </a:xfrm>
          <a:prstGeom prst="rect">
            <a:avLst/>
          </a:prstGeom>
        </p:spPr>
      </p:pic>
      <p:sp>
        <p:nvSpPr>
          <p:cNvPr id="7" name="Unvan 1"/>
          <p:cNvSpPr>
            <a:spLocks noGrp="1"/>
          </p:cNvSpPr>
          <p:nvPr>
            <p:ph type="title"/>
          </p:nvPr>
        </p:nvSpPr>
        <p:spPr>
          <a:xfrm>
            <a:off x="0" y="1"/>
            <a:ext cx="9164320" cy="790448"/>
          </a:xfrm>
        </p:spPr>
        <p:txBody>
          <a:bodyPr/>
          <a:lstStyle/>
          <a:p>
            <a:r>
              <a:rPr lang="tr-TR" b="1" dirty="0" err="1"/>
              <a:t>Kirchhoff’un</a:t>
            </a:r>
            <a:r>
              <a:rPr lang="tr-TR" b="1" dirty="0"/>
              <a:t> Akımlar Kanunu (KAK)</a:t>
            </a:r>
            <a:endParaRPr lang="tr-TR" dirty="0"/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367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Aşağıdaki devrede kaç düğüm vardır?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440" y="1562977"/>
            <a:ext cx="5346697" cy="2208799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172" y="3771776"/>
            <a:ext cx="5402919" cy="2774939"/>
          </a:xfrm>
          <a:prstGeom prst="rect">
            <a:avLst/>
          </a:prstGeom>
        </p:spPr>
      </p:pic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551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3200" dirty="0"/>
              <a:t>Alıştırma: Şekildeki devre için düğümden çıkan akımları pozitif kabul ederek her bir düğüm için </a:t>
            </a:r>
            <a:r>
              <a:rPr lang="tr-TR" sz="3200" dirty="0" err="1"/>
              <a:t>Kirchhoff’un</a:t>
            </a:r>
            <a:r>
              <a:rPr lang="tr-TR" sz="3200" dirty="0"/>
              <a:t> Akım Kanunu’nu yazınız.</a:t>
            </a: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950" y="1966912"/>
            <a:ext cx="2933700" cy="29527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950" y="2262187"/>
            <a:ext cx="2971800" cy="323850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2586037"/>
            <a:ext cx="2952750" cy="314325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525" y="2844678"/>
            <a:ext cx="2933700" cy="35242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9525" y="3137023"/>
            <a:ext cx="2943225" cy="323850"/>
          </a:xfrm>
          <a:prstGeom prst="rect">
            <a:avLst/>
          </a:prstGeom>
        </p:spPr>
      </p:pic>
      <p:sp>
        <p:nvSpPr>
          <p:cNvPr id="9" name="İçerik Yer Tutucusu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0" name="Resim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4435" y="1789235"/>
            <a:ext cx="3028950" cy="2695575"/>
          </a:xfrm>
          <a:prstGeom prst="rect">
            <a:avLst/>
          </a:prstGeom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3885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dirty="0"/>
              <a:t>Alıştırma: Şekildeki devre için </a:t>
            </a:r>
            <a:r>
              <a:rPr lang="tr-TR" sz="3200" dirty="0" err="1"/>
              <a:t>Kirchhoff’un</a:t>
            </a:r>
            <a:r>
              <a:rPr lang="tr-TR" sz="3200" dirty="0"/>
              <a:t> Akım Kanunu ifadelerini yazınız. </a:t>
            </a: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544637"/>
            <a:ext cx="4914900" cy="561975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661" y="2043028"/>
            <a:ext cx="4981575" cy="58102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0286" y="2584450"/>
            <a:ext cx="4933950" cy="571500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0286" y="3136663"/>
            <a:ext cx="4953000" cy="495300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676" y="1544637"/>
            <a:ext cx="5191125" cy="4610100"/>
          </a:xfrm>
          <a:prstGeom prst="rect">
            <a:avLst/>
          </a:prstGeom>
        </p:spPr>
      </p:pic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8934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dirty="0" smtClean="0"/>
              <a:t>Örnek1: </a:t>
            </a:r>
            <a:r>
              <a:rPr lang="tr-TR" sz="3200" dirty="0" err="1" smtClean="0"/>
              <a:t>Io</a:t>
            </a:r>
            <a:r>
              <a:rPr lang="tr-TR" sz="3200" dirty="0" smtClean="0"/>
              <a:t> </a:t>
            </a:r>
            <a:r>
              <a:rPr lang="tr-TR" sz="3200" dirty="0"/>
              <a:t>akımını ve </a:t>
            </a:r>
            <a:r>
              <a:rPr lang="tr-TR" sz="3200" dirty="0" err="1"/>
              <a:t>Vo</a:t>
            </a:r>
            <a:r>
              <a:rPr lang="tr-TR" sz="3200" dirty="0"/>
              <a:t> gerilimini bulunuz</a:t>
            </a:r>
            <a:br>
              <a:rPr lang="tr-TR" sz="3200" dirty="0"/>
            </a:br>
            <a:endParaRPr lang="tr-TR" sz="32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83" y="2610675"/>
            <a:ext cx="4720294" cy="229206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677" y="2776501"/>
            <a:ext cx="6348773" cy="1842234"/>
          </a:xfrm>
          <a:prstGeom prst="rect">
            <a:avLst/>
          </a:prstGeom>
        </p:spPr>
      </p:pic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103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138651" y="2518799"/>
            <a:ext cx="3320845" cy="27611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dirty="0" smtClean="0"/>
              <a:t>Çözüm</a:t>
            </a:r>
          </a:p>
          <a:p>
            <a:pPr marL="0" indent="0">
              <a:buNone/>
            </a:pPr>
            <a:r>
              <a:rPr lang="tr-TR" dirty="0" smtClean="0"/>
              <a:t>2Io=8I</a:t>
            </a:r>
            <a:r>
              <a:rPr lang="tr-TR" baseline="-25000" dirty="0" smtClean="0"/>
              <a:t>1</a:t>
            </a:r>
          </a:p>
          <a:p>
            <a:pPr marL="0" indent="0">
              <a:buNone/>
            </a:pPr>
            <a:r>
              <a:rPr lang="tr-TR" dirty="0" smtClean="0"/>
              <a:t>I</a:t>
            </a:r>
            <a:r>
              <a:rPr lang="tr-TR" baseline="-25000" dirty="0" smtClean="0"/>
              <a:t>1</a:t>
            </a:r>
            <a:r>
              <a:rPr lang="tr-TR" dirty="0" smtClean="0"/>
              <a:t>=2Io/8</a:t>
            </a:r>
          </a:p>
          <a:p>
            <a:pPr marL="0" indent="0">
              <a:buNone/>
            </a:pPr>
            <a:r>
              <a:rPr lang="tr-TR" dirty="0" smtClean="0"/>
              <a:t>6=</a:t>
            </a:r>
            <a:r>
              <a:rPr lang="tr-TR" dirty="0" err="1" smtClean="0"/>
              <a:t>Io</a:t>
            </a:r>
            <a:r>
              <a:rPr lang="tr-TR" dirty="0" smtClean="0"/>
              <a:t>+(</a:t>
            </a:r>
            <a:r>
              <a:rPr lang="tr-TR" dirty="0" err="1" smtClean="0"/>
              <a:t>Io</a:t>
            </a:r>
            <a:r>
              <a:rPr lang="tr-TR" dirty="0" smtClean="0"/>
              <a:t>/4)+(2Io/8)</a:t>
            </a:r>
          </a:p>
          <a:p>
            <a:pPr marL="0" indent="0">
              <a:buNone/>
            </a:pPr>
            <a:r>
              <a:rPr lang="tr-TR" dirty="0" err="1" smtClean="0"/>
              <a:t>Io</a:t>
            </a:r>
            <a:r>
              <a:rPr lang="tr-TR" dirty="0" smtClean="0"/>
              <a:t>=4A</a:t>
            </a:r>
          </a:p>
          <a:p>
            <a:pPr marL="0" indent="0">
              <a:buNone/>
            </a:pPr>
            <a:r>
              <a:rPr lang="tr-TR" dirty="0" err="1" smtClean="0"/>
              <a:t>Vo</a:t>
            </a:r>
            <a:r>
              <a:rPr lang="tr-TR" dirty="0" smtClean="0"/>
              <a:t>=(</a:t>
            </a:r>
            <a:r>
              <a:rPr lang="tr-TR" dirty="0" err="1" smtClean="0"/>
              <a:t>Io</a:t>
            </a:r>
            <a:r>
              <a:rPr lang="tr-TR" dirty="0" smtClean="0"/>
              <a:t>/4)x8=8V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09" y="2512399"/>
            <a:ext cx="6326541" cy="2398813"/>
          </a:xfrm>
          <a:prstGeom prst="rect">
            <a:avLst/>
          </a:prstGeom>
        </p:spPr>
      </p:pic>
      <p:sp>
        <p:nvSpPr>
          <p:cNvPr id="5" name="Unvan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3200" dirty="0" smtClean="0"/>
              <a:t>Örnek2: </a:t>
            </a:r>
            <a:r>
              <a:rPr lang="tr-TR" sz="3200" dirty="0" err="1" smtClean="0"/>
              <a:t>Io</a:t>
            </a:r>
            <a:r>
              <a:rPr lang="tr-TR" sz="3200" dirty="0" smtClean="0"/>
              <a:t> akımını ve </a:t>
            </a:r>
            <a:r>
              <a:rPr lang="tr-TR" sz="3200" dirty="0" err="1" smtClean="0"/>
              <a:t>Vo</a:t>
            </a:r>
            <a:r>
              <a:rPr lang="tr-TR" sz="3200" dirty="0" smtClean="0"/>
              <a:t> gerilimini bulunuz</a:t>
            </a:r>
            <a:br>
              <a:rPr lang="tr-TR" sz="3200" dirty="0" smtClean="0"/>
            </a:br>
            <a:endParaRPr lang="tr-TR" sz="3200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387580"/>
            <a:ext cx="493453" cy="629940"/>
          </a:xfrm>
          <a:prstGeom prst="rect">
            <a:avLst/>
          </a:prstGeom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174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93452" y="0"/>
            <a:ext cx="10515600" cy="588186"/>
          </a:xfrm>
        </p:spPr>
        <p:txBody>
          <a:bodyPr>
            <a:normAutofit fontScale="90000"/>
          </a:bodyPr>
          <a:lstStyle/>
          <a:p>
            <a:r>
              <a:rPr lang="tr-TR" b="1" dirty="0" err="1"/>
              <a:t>Kirchhoff’un</a:t>
            </a:r>
            <a:r>
              <a:rPr lang="tr-TR" b="1" dirty="0"/>
              <a:t> Gerilimler Kanunu (KGK) </a:t>
            </a:r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316" y="717922"/>
            <a:ext cx="6214505" cy="6086067"/>
          </a:xfrm>
        </p:spPr>
      </p:pic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24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783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11557"/>
            <a:ext cx="4939587" cy="4585555"/>
          </a:xfr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540" y="1913331"/>
            <a:ext cx="5534797" cy="3982006"/>
          </a:xfrm>
          <a:prstGeom prst="rect">
            <a:avLst/>
          </a:prstGeom>
        </p:spPr>
      </p:pic>
      <p:sp>
        <p:nvSpPr>
          <p:cNvPr id="6" name="Unvan 1"/>
          <p:cNvSpPr>
            <a:spLocks noGrp="1"/>
          </p:cNvSpPr>
          <p:nvPr>
            <p:ph type="title"/>
          </p:nvPr>
        </p:nvSpPr>
        <p:spPr>
          <a:xfrm>
            <a:off x="519987" y="497840"/>
            <a:ext cx="10515600" cy="588186"/>
          </a:xfrm>
        </p:spPr>
        <p:txBody>
          <a:bodyPr>
            <a:normAutofit fontScale="90000"/>
          </a:bodyPr>
          <a:lstStyle/>
          <a:p>
            <a:r>
              <a:rPr lang="tr-TR" b="1" dirty="0" err="1"/>
              <a:t>Kirchhoff’un</a:t>
            </a:r>
            <a:r>
              <a:rPr lang="tr-TR" b="1" dirty="0"/>
              <a:t> Gerilimler Kanunu (KGK) 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85237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97" y="1690688"/>
            <a:ext cx="6119771" cy="4029176"/>
          </a:xfr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489" y="1594344"/>
            <a:ext cx="5818511" cy="4125520"/>
          </a:xfrm>
          <a:prstGeom prst="rect">
            <a:avLst/>
          </a:prstGeom>
        </p:spPr>
      </p:pic>
      <p:sp>
        <p:nvSpPr>
          <p:cNvPr id="6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 err="1"/>
              <a:t>Kirchhoff’un</a:t>
            </a:r>
            <a:r>
              <a:rPr lang="tr-TR" b="1" dirty="0"/>
              <a:t> Gerilimler Kanunu (KGK) 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2863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643" y="1395958"/>
            <a:ext cx="3434713" cy="5246998"/>
          </a:xfrm>
        </p:spPr>
      </p:pic>
      <p:sp>
        <p:nvSpPr>
          <p:cNvPr id="5" name="Unvan 1"/>
          <p:cNvSpPr>
            <a:spLocks noGrp="1"/>
          </p:cNvSpPr>
          <p:nvPr>
            <p:ph type="title"/>
          </p:nvPr>
        </p:nvSpPr>
        <p:spPr>
          <a:xfrm>
            <a:off x="344252" y="436880"/>
            <a:ext cx="10515600" cy="588186"/>
          </a:xfrm>
        </p:spPr>
        <p:txBody>
          <a:bodyPr>
            <a:normAutofit fontScale="90000"/>
          </a:bodyPr>
          <a:lstStyle/>
          <a:p>
            <a:r>
              <a:rPr lang="tr-TR" b="1" dirty="0" err="1"/>
              <a:t>Kirchhoff’un</a:t>
            </a:r>
            <a:r>
              <a:rPr lang="tr-TR" b="1" dirty="0"/>
              <a:t> Gerilimler Kanunu (KGK) 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38694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dirty="0"/>
              <a:t>Alıştırma: Şekildeki devrede olası tüm çevreler için </a:t>
            </a:r>
            <a:r>
              <a:rPr lang="tr-TR" sz="3200" dirty="0" err="1"/>
              <a:t>Kirchhoff’un</a:t>
            </a:r>
            <a:r>
              <a:rPr lang="tr-TR" sz="3200" dirty="0"/>
              <a:t> Gerilim Kanunu ifadelerini yazınız.</a:t>
            </a: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537" y="1690688"/>
            <a:ext cx="4352925" cy="301942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2271712"/>
            <a:ext cx="2362200" cy="31432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2743200"/>
            <a:ext cx="2695575" cy="304800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3167061"/>
            <a:ext cx="2609850" cy="295275"/>
          </a:xfrm>
          <a:prstGeom prst="rect">
            <a:avLst/>
          </a:prstGeom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28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975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3200" dirty="0"/>
              <a:t>Alıştırma: Şekildeki devrede iki nokta arasındaki gerilimi belirlemek için </a:t>
            </a:r>
            <a:r>
              <a:rPr lang="tr-TR" sz="3200" dirty="0" err="1"/>
              <a:t>Kirchhoff’un</a:t>
            </a:r>
            <a:r>
              <a:rPr lang="tr-TR" sz="3200" dirty="0"/>
              <a:t> Gerilim Kanunu’nu kullanarak </a:t>
            </a:r>
            <a:r>
              <a:rPr lang="tr-TR" sz="3200" dirty="0" err="1"/>
              <a:t>Vae</a:t>
            </a:r>
            <a:r>
              <a:rPr lang="tr-TR" sz="3200" dirty="0"/>
              <a:t> ve </a:t>
            </a:r>
            <a:r>
              <a:rPr lang="tr-TR" sz="3200" dirty="0" err="1"/>
              <a:t>Vec’yi</a:t>
            </a:r>
            <a:r>
              <a:rPr lang="tr-TR" sz="3200" dirty="0"/>
              <a:t> bulunuz.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154" y="2038451"/>
            <a:ext cx="3400425" cy="2333625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116" y="2157513"/>
            <a:ext cx="3238500" cy="2095500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4429" y="4507013"/>
            <a:ext cx="2095500" cy="457200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3078" y="5050632"/>
            <a:ext cx="2314575" cy="790575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099" y="2038451"/>
            <a:ext cx="3371850" cy="2343150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7361" y="4568925"/>
            <a:ext cx="1590675" cy="333375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6260" y="4993056"/>
            <a:ext cx="2762250" cy="866775"/>
          </a:xfrm>
          <a:prstGeom prst="rect">
            <a:avLst/>
          </a:prstGeom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29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02249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167" y="1825624"/>
            <a:ext cx="3759941" cy="2380615"/>
          </a:xfrm>
          <a:prstGeom prst="rect">
            <a:avLst/>
          </a:prstGeom>
        </p:spPr>
      </p:pic>
      <p:sp>
        <p:nvSpPr>
          <p:cNvPr id="5" name="Unvan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3200" dirty="0" smtClean="0"/>
              <a:t>Örnek1: V1 ve V2 gerilimlerini bulunuz</a:t>
            </a:r>
            <a:br>
              <a:rPr lang="tr-TR" sz="3200" dirty="0" smtClean="0"/>
            </a:br>
            <a:endParaRPr lang="tr-TR" sz="3200" dirty="0"/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30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01334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420" y="2651589"/>
            <a:ext cx="6683319" cy="3932261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01" y="162867"/>
            <a:ext cx="3455198" cy="2187666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990" y="244145"/>
            <a:ext cx="3378899" cy="2112975"/>
          </a:xfrm>
          <a:prstGeom prst="rect">
            <a:avLst/>
          </a:prstGeom>
        </p:spPr>
      </p:pic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31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5915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763" y="1960810"/>
            <a:ext cx="4065649" cy="244863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384" y="4937740"/>
            <a:ext cx="2362405" cy="457240"/>
          </a:xfrm>
          <a:prstGeom prst="rect">
            <a:avLst/>
          </a:prstGeom>
        </p:spPr>
      </p:pic>
      <p:sp>
        <p:nvSpPr>
          <p:cNvPr id="6" name="Unvan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3200" dirty="0" smtClean="0"/>
              <a:t>Örnek2: V1 ve V2 gerilimlerini bulunuz</a:t>
            </a:r>
            <a:br>
              <a:rPr lang="tr-TR" sz="3200" dirty="0" smtClean="0"/>
            </a:br>
            <a:endParaRPr lang="tr-TR" sz="3200" dirty="0"/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32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5959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dirty="0" smtClean="0"/>
              <a:t>Ders içi sorular:</a:t>
            </a:r>
            <a:endParaRPr lang="tr-TR" sz="32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1. Kısa devre ve açık devre kavramlarını </a:t>
            </a:r>
            <a:r>
              <a:rPr lang="tr-TR" dirty="0" smtClean="0"/>
              <a:t>açıklayınız</a:t>
            </a:r>
            <a:r>
              <a:rPr lang="tr-TR" dirty="0"/>
              <a:t>. </a:t>
            </a:r>
            <a:endParaRPr lang="tr-TR" dirty="0" smtClean="0"/>
          </a:p>
          <a:p>
            <a:r>
              <a:rPr lang="tr-TR" dirty="0"/>
              <a:t>2. </a:t>
            </a:r>
            <a:r>
              <a:rPr lang="tr-TR" dirty="0" err="1"/>
              <a:t>Ohm</a:t>
            </a:r>
            <a:r>
              <a:rPr lang="tr-TR" dirty="0"/>
              <a:t> kanunu nedir, tanımlayınız. </a:t>
            </a:r>
            <a:r>
              <a:rPr lang="tr-TR" dirty="0" err="1"/>
              <a:t>Ohm</a:t>
            </a:r>
            <a:r>
              <a:rPr lang="tr-TR" dirty="0"/>
              <a:t> kanununda direnç sabitken akım ve gerilim arasındaki </a:t>
            </a:r>
            <a:r>
              <a:rPr lang="tr-TR" dirty="0" smtClean="0"/>
              <a:t>ilişki nedir? </a:t>
            </a:r>
          </a:p>
          <a:p>
            <a:r>
              <a:rPr lang="tr-TR" dirty="0"/>
              <a:t>3. Aşağıda verilen ifadelerin birimlerini yazınız. </a:t>
            </a:r>
            <a:endParaRPr lang="tr-TR" dirty="0" smtClean="0"/>
          </a:p>
          <a:p>
            <a:r>
              <a:rPr lang="tr-TR" dirty="0"/>
              <a:t>Akım Şiddeti : </a:t>
            </a:r>
            <a:endParaRPr lang="tr-TR" dirty="0" smtClean="0"/>
          </a:p>
          <a:p>
            <a:r>
              <a:rPr lang="tr-TR" dirty="0"/>
              <a:t>Gerilim : </a:t>
            </a:r>
            <a:endParaRPr lang="tr-TR" dirty="0" smtClean="0"/>
          </a:p>
          <a:p>
            <a:r>
              <a:rPr lang="tr-TR" dirty="0"/>
              <a:t>Direnç : </a:t>
            </a:r>
            <a:endParaRPr lang="tr-TR" dirty="0" smtClean="0"/>
          </a:p>
          <a:p>
            <a:r>
              <a:rPr lang="tr-TR" dirty="0" smtClean="0"/>
              <a:t>Güç:</a:t>
            </a:r>
          </a:p>
          <a:p>
            <a:pPr marL="0" indent="0">
              <a:buNone/>
            </a:pPr>
            <a:endParaRPr lang="tr-TR" dirty="0" smtClean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33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4283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dirty="0"/>
              <a:t>Ders içi sorular: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4. Aşağıdaki şekilde A3 ve A5 ampermetrelerinden okunan akım değerlerini bulunuz.</a:t>
            </a:r>
          </a:p>
          <a:p>
            <a:endParaRPr lang="tr-TR" dirty="0"/>
          </a:p>
        </p:txBody>
      </p:sp>
      <p:pic>
        <p:nvPicPr>
          <p:cNvPr id="6" name="İçerik Yer Tutucusu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086" y="3125557"/>
            <a:ext cx="4001058" cy="2419688"/>
          </a:xfrm>
          <a:prstGeom prst="rect">
            <a:avLst/>
          </a:prstGeom>
        </p:spPr>
      </p:pic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34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5919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118644" y="4465852"/>
            <a:ext cx="3140676" cy="2209268"/>
          </a:xfrm>
        </p:spPr>
        <p:txBody>
          <a:bodyPr/>
          <a:lstStyle/>
          <a:p>
            <a:pPr marL="0" indent="0">
              <a:buNone/>
            </a:pPr>
            <a:r>
              <a:rPr lang="tr-TR" dirty="0" smtClean="0"/>
              <a:t>-35+10i+20i+5i=0</a:t>
            </a:r>
          </a:p>
          <a:p>
            <a:pPr marL="0" indent="0">
              <a:buNone/>
            </a:pPr>
            <a:r>
              <a:rPr lang="tr-TR" dirty="0" smtClean="0"/>
              <a:t>i=1A</a:t>
            </a:r>
          </a:p>
          <a:p>
            <a:pPr marL="0" indent="0">
              <a:buNone/>
            </a:pPr>
            <a:r>
              <a:rPr lang="tr-TR" dirty="0" err="1" smtClean="0"/>
              <a:t>Vx</a:t>
            </a:r>
            <a:r>
              <a:rPr lang="tr-TR" dirty="0" smtClean="0"/>
              <a:t>= 1*10 =10V</a:t>
            </a:r>
          </a:p>
          <a:p>
            <a:pPr marL="0" indent="0">
              <a:buNone/>
            </a:pPr>
            <a:r>
              <a:rPr lang="tr-TR" dirty="0" err="1" smtClean="0"/>
              <a:t>Vo</a:t>
            </a:r>
            <a:r>
              <a:rPr lang="tr-TR" dirty="0" smtClean="0"/>
              <a:t>= -1*5 = -5V</a:t>
            </a:r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026" y="1535169"/>
            <a:ext cx="5284867" cy="2599951"/>
          </a:xfrm>
          <a:prstGeom prst="rect">
            <a:avLst/>
          </a:prstGeom>
        </p:spPr>
      </p:pic>
      <p:sp>
        <p:nvSpPr>
          <p:cNvPr id="5" name="Unvan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3200" dirty="0" smtClean="0">
                <a:solidFill>
                  <a:srgbClr val="FF0000"/>
                </a:solidFill>
              </a:rPr>
              <a:t>Örnek2: </a:t>
            </a:r>
            <a:r>
              <a:rPr lang="tr-TR" sz="3200" dirty="0" err="1" smtClean="0">
                <a:solidFill>
                  <a:srgbClr val="FF0000"/>
                </a:solidFill>
              </a:rPr>
              <a:t>Vx</a:t>
            </a:r>
            <a:r>
              <a:rPr lang="tr-TR" sz="3200" dirty="0" smtClean="0">
                <a:solidFill>
                  <a:srgbClr val="FF0000"/>
                </a:solidFill>
              </a:rPr>
              <a:t> ve </a:t>
            </a:r>
            <a:r>
              <a:rPr lang="tr-TR" sz="3200" dirty="0" err="1" smtClean="0">
                <a:solidFill>
                  <a:srgbClr val="FF0000"/>
                </a:solidFill>
              </a:rPr>
              <a:t>Vo</a:t>
            </a:r>
            <a:r>
              <a:rPr lang="tr-TR" sz="3200" dirty="0" smtClean="0">
                <a:solidFill>
                  <a:srgbClr val="FF0000"/>
                </a:solidFill>
              </a:rPr>
              <a:t> gerilimlerini bulunuz</a:t>
            </a:r>
            <a:r>
              <a:rPr lang="tr-TR" sz="3200" dirty="0" smtClean="0"/>
              <a:t/>
            </a:r>
            <a:br>
              <a:rPr lang="tr-TR" sz="3200" dirty="0" smtClean="0"/>
            </a:br>
            <a:endParaRPr lang="tr-TR" sz="3200" dirty="0"/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35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6008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tr-TR" sz="9600" dirty="0" smtClean="0"/>
              <a:t>?</a:t>
            </a:r>
            <a:endParaRPr lang="tr-TR" sz="9600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5540-BBE7-44BF-A83E-E26D84B3FA5D}" type="slidenum">
              <a:rPr lang="tr-TR" smtClean="0"/>
              <a:t>36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370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4511</TotalTime>
  <Words>598</Words>
  <Application>Microsoft Office PowerPoint</Application>
  <PresentationFormat>Geniş ekran</PresentationFormat>
  <Paragraphs>129</Paragraphs>
  <Slides>36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Teması</vt:lpstr>
      <vt:lpstr>ELEKTRİK DEVRE TEMELLERİ DERS NOTLARI 2. HAFTA </vt:lpstr>
      <vt:lpstr>DİRENÇLİ DEVRELER </vt:lpstr>
      <vt:lpstr>Dirençler</vt:lpstr>
      <vt:lpstr>Ohm Kanunu </vt:lpstr>
      <vt:lpstr>Açık Devre </vt:lpstr>
      <vt:lpstr>Kısa Devre </vt:lpstr>
      <vt:lpstr>Kirchhoff Kanunları </vt:lpstr>
      <vt:lpstr>Kirchhoff Kanunları </vt:lpstr>
      <vt:lpstr>Kirchhoff’un Akımlar Kanunu (KAK)</vt:lpstr>
      <vt:lpstr>Kirchhoff’un Akımlar Kanunu (KAK)</vt:lpstr>
      <vt:lpstr>Kirchhoff’un Akımlar Kanunu (KAK)</vt:lpstr>
      <vt:lpstr>Kirchhoff’un Akımlar Kanunu (KAK)</vt:lpstr>
      <vt:lpstr>PowerPoint Sunusu</vt:lpstr>
      <vt:lpstr>Kirchhoff’un Akımlar Kanunu (KAK)</vt:lpstr>
      <vt:lpstr>Kirchhoff’un Akımlar Kanunu (KAK)</vt:lpstr>
      <vt:lpstr>Kirchhoff’un Akımlar Kanunu (KAK)</vt:lpstr>
      <vt:lpstr>Kirchhoff’un Akımlar Kanunu (KAK)</vt:lpstr>
      <vt:lpstr>Kirchhoff’un Akımlar Kanunu (KAK)</vt:lpstr>
      <vt:lpstr>Aşağıdaki devrede kaç düğüm vardır?</vt:lpstr>
      <vt:lpstr>Alıştırma: Şekildeki devre için düğümden çıkan akımları pozitif kabul ederek her bir düğüm için Kirchhoff’un Akım Kanunu’nu yazınız.</vt:lpstr>
      <vt:lpstr>Alıştırma: Şekildeki devre için Kirchhoff’un Akım Kanunu ifadelerini yazınız. </vt:lpstr>
      <vt:lpstr>Örnek1: Io akımını ve Vo gerilimini bulunuz </vt:lpstr>
      <vt:lpstr>PowerPoint Sunusu</vt:lpstr>
      <vt:lpstr>Kirchhoff’un Gerilimler Kanunu (KGK) </vt:lpstr>
      <vt:lpstr>Kirchhoff’un Gerilimler Kanunu (KGK) </vt:lpstr>
      <vt:lpstr>Kirchhoff’un Gerilimler Kanunu (KGK) </vt:lpstr>
      <vt:lpstr>Kirchhoff’un Gerilimler Kanunu (KGK) </vt:lpstr>
      <vt:lpstr>Alıştırma: Şekildeki devrede olası tüm çevreler için Kirchhoff’un Gerilim Kanunu ifadelerini yazınız.</vt:lpstr>
      <vt:lpstr>Alıştırma: Şekildeki devrede iki nokta arasındaki gerilimi belirlemek için Kirchhoff’un Gerilim Kanunu’nu kullanarak Vae ve Vec’yi bulunuz.</vt:lpstr>
      <vt:lpstr>Örnek1: V1 ve V2 gerilimlerini bulunuz </vt:lpstr>
      <vt:lpstr>PowerPoint Sunusu</vt:lpstr>
      <vt:lpstr>Örnek2: V1 ve V2 gerilimlerini bulunuz </vt:lpstr>
      <vt:lpstr>Ders içi sorular:</vt:lpstr>
      <vt:lpstr>Ders içi sorular:</vt:lpstr>
      <vt:lpstr>Örnek2: Vx ve Vo gerilimlerini bulunuz 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ELEKTRİK DEVRE TEMELLERİ DERS NOTLARI 2. HAFTA</dc:title>
  <dc:creator>Mehmet Cünety ÖZBALCI</dc:creator>
  <cp:lastModifiedBy>Haydar ÖZKAN</cp:lastModifiedBy>
  <cp:revision>60</cp:revision>
  <dcterms:created xsi:type="dcterms:W3CDTF">2021-02-18T10:50:11Z</dcterms:created>
  <dcterms:modified xsi:type="dcterms:W3CDTF">2026-03-17T15:00:32Z</dcterms:modified>
</cp:coreProperties>
</file>