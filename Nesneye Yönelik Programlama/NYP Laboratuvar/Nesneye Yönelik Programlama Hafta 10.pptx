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Roboto Mono"/>
      <p:regular r:id="rId20"/>
      <p:bold r:id="rId21"/>
      <p:italic r:id="rId22"/>
      <p:boldItalic r:id="rId23"/>
    </p:embeddedFont>
    <p:embeddedFont>
      <p:font typeface="Merriweath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22" Type="http://schemas.openxmlformats.org/officeDocument/2006/relationships/font" Target="fonts/RobotoMono-italic.fntdata"/><Relationship Id="rId21" Type="http://schemas.openxmlformats.org/officeDocument/2006/relationships/font" Target="fonts/RobotoMono-bold.fntdata"/><Relationship Id="rId24" Type="http://schemas.openxmlformats.org/officeDocument/2006/relationships/font" Target="fonts/Merriweather-regular.fntdata"/><Relationship Id="rId23" Type="http://schemas.openxmlformats.org/officeDocument/2006/relationships/font" Target="fonts/RobotoMon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italic.fntdata"/><Relationship Id="rId25" Type="http://schemas.openxmlformats.org/officeDocument/2006/relationships/font" Target="fonts/Merriweather-bold.fntdata"/><Relationship Id="rId27" Type="http://schemas.openxmlformats.org/officeDocument/2006/relationships/font" Target="fonts/Merriweath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5be3f5e9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5be3f5e9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a13ca3b4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a13ca3b4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a13ca3b4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a13ca3b4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a13ca3b4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a13ca3b4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import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javax.swing.JFrame;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import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javax.swing.JButton;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import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javax.swing.JTextField;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import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java.awt.BorderLayout;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import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java.awt.GridLayout;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import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javax.swing.JPanel;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import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java.awt.event.ActionListener;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import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java.awt.event.ActionEvent;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extends JFrame: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Bu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sinifin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kendisi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artik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bir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penceredir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.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Dogrudan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bir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JFrame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gibi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davranir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.</a:t>
            </a:r>
            <a:endParaRPr sz="10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implements ActionListener: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Bu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sinifin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bir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"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buton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tiklama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dinleyicisi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"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olacagini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taahhüt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ediyoruz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.</a:t>
            </a:r>
            <a:endParaRPr sz="10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Bunu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yazdigimiz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için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asagida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actionPerformed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metodunu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ezmek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(@Override)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zorundayiz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.</a:t>
            </a:r>
            <a:endParaRPr sz="10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class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chemeClr val="dk1"/>
                </a:solidFill>
                <a:highlight>
                  <a:srgbClr val="FFFFFF"/>
                </a:highlight>
              </a:rPr>
              <a:t>BasitHesapMakinesi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extends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JFrame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implements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ActionListener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private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JTextField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ekran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private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JButton[]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butonlar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Butonlarin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uzerindeki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metinler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(4x4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duzen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icin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)</a:t>
            </a:r>
            <a:endParaRPr sz="10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private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String[]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butonEtiketleri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"7"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"8"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"9"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"/"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"4"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"5"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"6"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"*"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"1"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"2"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"3"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"-"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"C"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"0"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"="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"+"</a:t>
            </a:r>
            <a:endParaRPr sz="1000">
              <a:solidFill>
                <a:srgbClr val="2A00F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private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sayi1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0,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sayi2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0,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sonuc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0;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private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char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operator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' '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BasitHesapMakinesi()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setTitle(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"Basit Hesap Makinesi"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Pencerenin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basligi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setSize(400, 500);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Pencerenin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boyutu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setDefaultCloseOperation(JFrame.</a:t>
            </a:r>
            <a:r>
              <a:rPr b="1" i="1" lang="tr" sz="1000">
                <a:solidFill>
                  <a:srgbClr val="0000C0"/>
                </a:solidFill>
                <a:highlight>
                  <a:srgbClr val="FFFFFF"/>
                </a:highlight>
              </a:rPr>
              <a:t>EXIT_ON_CLOSE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EXIT_ON_CLOSE,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penceredeki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carpi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(X)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tusuna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basildiginda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programin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arka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planda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da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tamamen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kapanmasini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saglar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.</a:t>
            </a:r>
            <a:endParaRPr sz="10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setLocationRelativeTo(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null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Ekranın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ortasında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açılması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için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setLayout(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new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BorderLayout());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BorderLayout,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pencereyi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Kuzey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,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Guney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,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Dogu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,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Bati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ve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Merkez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olarak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5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bolgeye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ayiran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bir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ana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duzendir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Ekran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(JTextField)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olusturulmasi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ve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eklenmesi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ekran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new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JTextField();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ekran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.setEditable(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false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Kullanici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elle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yazamasin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,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sadece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butonlarla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yazilsin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ekran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.setHorizontalAlignment(JTextField.</a:t>
            </a:r>
            <a:r>
              <a:rPr b="1" i="1" lang="tr" sz="1000">
                <a:solidFill>
                  <a:srgbClr val="0000C0"/>
                </a:solidFill>
                <a:highlight>
                  <a:srgbClr val="FFFFFF"/>
                </a:highlight>
              </a:rPr>
              <a:t>RIGHT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Sayilar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saga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yasli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olsun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add(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ekran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BorderLayout.</a:t>
            </a:r>
            <a:r>
              <a:rPr b="1" i="1" lang="tr" sz="1000">
                <a:solidFill>
                  <a:srgbClr val="0000C0"/>
                </a:solidFill>
                <a:highlight>
                  <a:srgbClr val="FFFFFF"/>
                </a:highlight>
              </a:rPr>
              <a:t>NORTH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Ekrani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uste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koyuyoruz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Butonlari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4X4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simetrik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bir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izgara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seklinde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dizmek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için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GridLayout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kullaniyoruz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JPanel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butonPaneli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new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JPanel();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butonPaneli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.setLayout(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new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GridLayout(4, 4, 5, 5));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satir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,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sutun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,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yatay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bosluk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,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dikey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bosluk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butonlar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new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JButton[16];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Donguyle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16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butonu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tek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tek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olusturuyoruz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for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(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int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i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0;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i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&lt; 16;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i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++)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butonlar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[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i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] =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new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JButton(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butonEtiketleri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[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i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]);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butonlar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[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i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].addActionListener(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this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Butona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tiklandigi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zaman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sinifa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(this)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haber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verir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cunku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tiklama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kodlari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bu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sinifin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altindaki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actionPerformed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metodunda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yaziyor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butonPaneli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.add(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butonlar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[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i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]);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Butonlari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panel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vasitasiyla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pencerenin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ortasina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koyup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setVisible(true)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ile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pencereyi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gorunur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yapiyoruz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add(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butonPaneli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BorderLayout.</a:t>
            </a:r>
            <a:r>
              <a:rPr b="1" i="1" lang="tr" sz="1000">
                <a:solidFill>
                  <a:srgbClr val="0000C0"/>
                </a:solidFill>
                <a:highlight>
                  <a:srgbClr val="FFFFFF"/>
                </a:highlight>
              </a:rPr>
              <a:t>CENTER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setVisible(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true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Bir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butona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tiklandiginda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Java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burayi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tetikler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. e.getSource()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hangi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butona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tiklandigini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nesne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olarak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verir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Biz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de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onun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uzerindeki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yaziyi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(getText())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alip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bir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metne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atariz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lang="tr" sz="1000">
                <a:solidFill>
                  <a:srgbClr val="646464"/>
                </a:solidFill>
                <a:highlight>
                  <a:srgbClr val="FFFFFF"/>
                </a:highlight>
              </a:rPr>
              <a:t>@Override</a:t>
            </a:r>
            <a:endParaRPr sz="1000">
              <a:solidFill>
                <a:srgbClr val="646464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void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actionPerformed(ActionEvent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JButton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tıklananButon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(JButton)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.getSource();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String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butonMetni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tıklananButon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.getText();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Eger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basilan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buton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"C"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ise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ekrandaki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yaziyi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siler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ve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hafizadaki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sayilari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sifirlariz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if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(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butonMetni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.equals(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"C"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ekran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.setText(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sayi1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0;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sayi2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0;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operator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' '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Esittir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(=)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butonu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kontrolu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(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Hesaplama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islemi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)</a:t>
            </a:r>
            <a:endParaRPr sz="10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Esittir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butonuna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basildiginda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,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ekrandaki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guncel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sayiyi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sayi2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olarak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kaydederiz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Hafizadaki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operator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degiskenine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bakarak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(+, -, *, /) switch-case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icinde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matematiksel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islemi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yapariz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ve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sonucu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ekran.setText()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ile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ekrana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yazdiririz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else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if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(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butonMetni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.equals(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"="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if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(!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ekran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.getText().isEmpty() &amp;&amp;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operator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!=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' '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   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sayi2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Double.</a:t>
            </a:r>
            <a:r>
              <a:rPr i="1" lang="tr" sz="1000">
                <a:solidFill>
                  <a:schemeClr val="dk1"/>
                </a:solidFill>
                <a:highlight>
                  <a:srgbClr val="FFFFFF"/>
                </a:highlight>
              </a:rPr>
              <a:t>parseDouble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(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ekran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.getText());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   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switch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(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operator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case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'+'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: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sonuc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sayi1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+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sayi2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break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case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'-'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: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sonuc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sayi1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-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sayi2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break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case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'*'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: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sonuc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sayi1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*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sayi2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break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case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'/'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: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    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if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(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sayi2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!= 0)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               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sonuc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sayi1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/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sayi2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            }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else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               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ekran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.setText(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"Hata: 0'a Bölme"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        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return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         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    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break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 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   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ekran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.setText(String.</a:t>
            </a:r>
            <a:r>
              <a:rPr i="1" lang="tr" sz="1000">
                <a:solidFill>
                  <a:schemeClr val="dk1"/>
                </a:solidFill>
                <a:highlight>
                  <a:srgbClr val="FFFFFF"/>
                </a:highlight>
              </a:rPr>
              <a:t>valueOf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(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sonuc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   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operator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' '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Operatoru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sifirla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Operator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butonlari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kontrolu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(+, -, *, /)</a:t>
            </a:r>
            <a:endParaRPr sz="10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Eger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bir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islem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butonuna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basildiysa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(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orn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: +),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ekranda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o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ana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kadar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yazili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olan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sayiyi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alip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sayi1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degiskenine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kaydederiz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Hangi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işleme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basildigini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operator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degiskeninde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tutariz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ve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ikinci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sayiyi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yazabilmesi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icin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ekrani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temizleriz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else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if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(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butonMetni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.equals(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"+"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 ||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butonMetni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.equals(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"-"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 ||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butonMetni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.equals(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"*"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 ||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butonMetni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.equals(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"/"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if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(!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ekran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.getText().isEmpty())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   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sayi1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Double.</a:t>
            </a:r>
            <a:r>
              <a:rPr i="1" lang="tr" sz="1000">
                <a:solidFill>
                  <a:schemeClr val="dk1"/>
                </a:solidFill>
                <a:highlight>
                  <a:srgbClr val="FFFFFF"/>
                </a:highlight>
              </a:rPr>
              <a:t>parseDouble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(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ekran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.getText());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   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operator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butonMetni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.charAt(0);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   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ekran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.setText(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ekrani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temizle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Eger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basilan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sey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bir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islem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veya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esittir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degilse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,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yani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normal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bir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sayiysa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(0-9),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ekrandaki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mevcut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yazinin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yanina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o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sayiyi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ekleriz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else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Ekranda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eski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bir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hata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mesaji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veya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sonuc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varsa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temizle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,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yeni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sayiyi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ekle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if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(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ekran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.getText().equals(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"Hata: 0'a Bölme"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   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ekran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.setText(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ekran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.setText(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ekran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.getText() +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butonMetni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Uygulamayi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baslatan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ana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metot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static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void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main(String[]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args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	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Programin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calistirilmasi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new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BasitHesapMakinesi();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a13ca3b4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a13ca3b4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a13ca3b4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a13ca3b4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a13ca3b41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a13ca3b4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a13ca3b4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a13ca3b4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a13ca3b41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a13ca3b4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Nesneye Yönelik Programlama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Hafta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Java Swing Paketi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11725" y="1490350"/>
            <a:ext cx="8708100" cy="3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Java Swing Paketi (javax.swing.*)</a:t>
            </a:r>
            <a:endParaRPr b="1" sz="12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Görsel bileşenlerin (Component) neredeyse tamamı Swing paketinin içindedir. Adlarının başındaki </a:t>
            </a:r>
            <a:r>
              <a:rPr b="1"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"J"</a:t>
            </a:r>
            <a:r>
              <a:rPr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harfi, onların Swing bileşeni olduğunu sembolize eder:</a:t>
            </a:r>
            <a:endParaRPr sz="12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Char char="●"/>
            </a:pPr>
            <a:r>
              <a:rPr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JFrame</a:t>
            </a:r>
            <a:endParaRPr sz="12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Char char="●"/>
            </a:pPr>
            <a:r>
              <a:rPr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JTextField</a:t>
            </a:r>
            <a:endParaRPr sz="12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Char char="●"/>
            </a:pPr>
            <a:r>
              <a:rPr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JButton</a:t>
            </a:r>
            <a:endParaRPr sz="12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Char char="●"/>
            </a:pPr>
            <a:r>
              <a:rPr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JPanel </a:t>
            </a:r>
            <a:endParaRPr sz="12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2. Java AWT Olay Paketi (java.awt.event.*)</a:t>
            </a:r>
            <a:endParaRPr b="1" sz="12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Butonlara tıklandığında ne olacağını yöneten olay mekanizmaları (Event Handling) ise Swing'in temelini oluşturan </a:t>
            </a:r>
            <a:r>
              <a:rPr b="1"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AWT (Abstract Window Toolkit)</a:t>
            </a:r>
            <a:r>
              <a:rPr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kütüphanesinin altındadır:</a:t>
            </a:r>
            <a:endParaRPr sz="12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Char char="●"/>
            </a:pPr>
            <a:r>
              <a:rPr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ActionListener </a:t>
            </a:r>
            <a:endParaRPr sz="12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Char char="●"/>
            </a:pPr>
            <a:r>
              <a:rPr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ActionEvent </a:t>
            </a:r>
            <a:endParaRPr sz="12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Java Swing Paketi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25" y="1490350"/>
            <a:ext cx="8708100" cy="3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1"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Java AWT Düzen Paketi (java.awt.*)</a:t>
            </a:r>
            <a:endParaRPr b="1" sz="12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Bileşenlerin pencere içinde nereye yerleşeceğini (üstte mi, ortada mı, ızgara şeklinde mi) belirleyen düzen yöneticileri (Layout Managers) de yine AWT paketinden gelir:</a:t>
            </a:r>
            <a:endParaRPr sz="12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Char char="●"/>
            </a:pPr>
            <a:r>
              <a:rPr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BorderLayout </a:t>
            </a:r>
            <a:endParaRPr sz="12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Char char="●"/>
            </a:pPr>
            <a:r>
              <a:rPr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GridLayout </a:t>
            </a:r>
            <a:endParaRPr sz="12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Kullanılan Bileşenler ve Kavramlar 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25" y="1490350"/>
            <a:ext cx="8613600" cy="3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00"/>
              <a:buFont typeface="Arial"/>
              <a:buChar char="●"/>
            </a:pPr>
            <a:r>
              <a:rPr b="1" lang="tr" sz="1200">
                <a:solidFill>
                  <a:srgbClr val="1F1F1F"/>
                </a:solidFill>
                <a:latin typeface="Roboto Mono"/>
                <a:ea typeface="Roboto Mono"/>
                <a:cs typeface="Roboto Mono"/>
                <a:sym typeface="Roboto Mono"/>
              </a:rPr>
              <a:t>JFrame</a:t>
            </a:r>
            <a:r>
              <a:rPr b="1"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(Pencere):</a:t>
            </a:r>
            <a:r>
              <a:rPr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Uygulamamızın ana çerçevesidir. İçine diğer tüm butonları, metin kutularını koyduğumuz boş bir "oda" ya da "tuval" gibi düşünülebilir. Kapatma tuşu, pencere boyutu ve başlığı bununla yönetilir.</a:t>
            </a:r>
            <a:endParaRPr sz="12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00"/>
              <a:buFont typeface="Arial"/>
              <a:buChar char="●"/>
            </a:pPr>
            <a:r>
              <a:rPr b="1" lang="tr" sz="1200">
                <a:solidFill>
                  <a:srgbClr val="1F1F1F"/>
                </a:solidFill>
                <a:latin typeface="Roboto Mono"/>
                <a:ea typeface="Roboto Mono"/>
                <a:cs typeface="Roboto Mono"/>
                <a:sym typeface="Roboto Mono"/>
              </a:rPr>
              <a:t>JTextField</a:t>
            </a:r>
            <a:r>
              <a:rPr b="1"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(Metin Alanı):</a:t>
            </a:r>
            <a:r>
              <a:rPr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Kullanıcıdan tek satırlık yazı/sayı almak veya kullanıcıya bir sonuç göstermek için kullanılan kutudur. Hesap makinemizde burası bizim "ekranımız" olacak.</a:t>
            </a:r>
            <a:endParaRPr sz="12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00"/>
              <a:buFont typeface="Arial"/>
              <a:buChar char="●"/>
            </a:pPr>
            <a:r>
              <a:rPr b="1" lang="tr" sz="1200">
                <a:solidFill>
                  <a:srgbClr val="1F1F1F"/>
                </a:solidFill>
                <a:latin typeface="Roboto Mono"/>
                <a:ea typeface="Roboto Mono"/>
                <a:cs typeface="Roboto Mono"/>
                <a:sym typeface="Roboto Mono"/>
              </a:rPr>
              <a:t>JButton</a:t>
            </a:r>
            <a:r>
              <a:rPr b="1"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(Buton):</a:t>
            </a:r>
            <a:r>
              <a:rPr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Kullanıcının tıklayabileceği düğmelerdir. Üzerine "7", "+", "=" gibi yazılar yazarak her birine bir görev atayacağız.</a:t>
            </a:r>
            <a:endParaRPr sz="12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00"/>
              <a:buFont typeface="Arial"/>
              <a:buChar char="●"/>
            </a:pPr>
            <a:r>
              <a:rPr b="1" lang="tr" sz="1200">
                <a:solidFill>
                  <a:srgbClr val="1F1F1F"/>
                </a:solidFill>
                <a:latin typeface="Roboto Mono"/>
                <a:ea typeface="Roboto Mono"/>
                <a:cs typeface="Roboto Mono"/>
                <a:sym typeface="Roboto Mono"/>
              </a:rPr>
              <a:t>ActionListener</a:t>
            </a:r>
            <a:r>
              <a:rPr b="1"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ve </a:t>
            </a:r>
            <a:r>
              <a:rPr b="1" lang="tr" sz="1200">
                <a:solidFill>
                  <a:srgbClr val="1F1F1F"/>
                </a:solidFill>
                <a:latin typeface="Roboto Mono"/>
                <a:ea typeface="Roboto Mono"/>
                <a:cs typeface="Roboto Mono"/>
                <a:sym typeface="Roboto Mono"/>
              </a:rPr>
              <a:t>actionPerformed</a:t>
            </a:r>
            <a:r>
              <a:rPr b="1"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(Olay Dinleyicisi):</a:t>
            </a:r>
            <a:r>
              <a:rPr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Java'da butonlar kendi kendine ne yapacağını bilmez. Bir butona tıklandığında bir "olay" (Event) fırlatılır. </a:t>
            </a:r>
            <a:r>
              <a:rPr lang="tr" sz="1200">
                <a:solidFill>
                  <a:srgbClr val="1F1F1F"/>
                </a:solidFill>
                <a:latin typeface="Roboto Mono"/>
                <a:ea typeface="Roboto Mono"/>
                <a:cs typeface="Roboto Mono"/>
                <a:sym typeface="Roboto Mono"/>
              </a:rPr>
              <a:t>ActionListener</a:t>
            </a:r>
            <a:r>
              <a:rPr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bu tıklama olayını kulak kabartıp dinleyen bir arayüzdür (interface). Tıklama gerçekleştiği an, bu arayüzün içindeki </a:t>
            </a:r>
            <a:r>
              <a:rPr lang="tr" sz="1200">
                <a:solidFill>
                  <a:srgbClr val="1F1F1F"/>
                </a:solidFill>
                <a:latin typeface="Roboto Mono"/>
                <a:ea typeface="Roboto Mono"/>
                <a:cs typeface="Roboto Mono"/>
                <a:sym typeface="Roboto Mono"/>
              </a:rPr>
              <a:t>actionPerformed</a:t>
            </a:r>
            <a:r>
              <a:rPr lang="tr" sz="12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metodu otomatik olarak çalışır ve butonun içindeki kodları yürütür.</a:t>
            </a:r>
            <a:endParaRPr sz="12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Örnek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505700"/>
            <a:ext cx="84726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" y="1336356"/>
            <a:ext cx="9143999" cy="3414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Örnek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505700"/>
            <a:ext cx="85668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6959"/>
            <a:ext cx="9144001" cy="3801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Örnek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505700"/>
            <a:ext cx="85668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825" y="1686038"/>
            <a:ext cx="7934325" cy="248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Örnek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505700"/>
            <a:ext cx="86043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50" y="1462261"/>
            <a:ext cx="9144000" cy="2952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Örnek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505700"/>
            <a:ext cx="86514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" y="2124782"/>
            <a:ext cx="9143999" cy="1838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Örnek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1505700"/>
            <a:ext cx="86514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98463"/>
            <a:ext cx="9144001" cy="271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