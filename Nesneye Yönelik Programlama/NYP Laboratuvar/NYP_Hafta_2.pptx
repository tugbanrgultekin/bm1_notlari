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Proxima Nova"/>
      <p:regular r:id="rId18"/>
      <p:bold r:id="rId19"/>
      <p:italic r:id="rId20"/>
      <p:boldItalic r:id="rId21"/>
    </p:embeddedFont>
    <p:embeddedFont>
      <p:font typeface="Roboto Mono"/>
      <p:regular r:id="rId22"/>
      <p:bold r:id="rId23"/>
      <p:italic r:id="rId24"/>
      <p:boldItalic r:id="rId25"/>
    </p:embeddedFont>
    <p:embeddedFont>
      <p:font typeface="Alfa Slab One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italic.fntdata"/><Relationship Id="rId22" Type="http://schemas.openxmlformats.org/officeDocument/2006/relationships/font" Target="fonts/RobotoMono-regular.fntdata"/><Relationship Id="rId21" Type="http://schemas.openxmlformats.org/officeDocument/2006/relationships/font" Target="fonts/ProximaNova-boldItalic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AlfaSlabOne-regular.fntdata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ProximaNova-bold.fntdata"/><Relationship Id="rId18" Type="http://schemas.openxmlformats.org/officeDocument/2006/relationships/font" Target="fonts/ProximaNova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df43912b2_0_2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df43912b2_0_2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df43912b2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df43912b2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df43912b2_0_3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df43912b2_0_3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df43912b2_0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df43912b2_0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cdf43912b2_0_8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cdf43912b2_0_8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df43912b2_0_8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df43912b2_0_8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df64874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df64874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cdf648746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cdf648746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df648746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df648746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df6487460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df648746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df6487460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cdf6487460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4278300" y="2751163"/>
            <a:ext cx="587400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95975"/>
            <a:ext cx="8520600" cy="19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3165823"/>
            <a:ext cx="8520600" cy="73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480550"/>
            <a:ext cx="8114400" cy="2445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  <a:defRPr sz="6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490875"/>
            <a:ext cx="2808000" cy="30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526350"/>
            <a:ext cx="5683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10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8" name="Google Shape;38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375599"/>
            <a:ext cx="4045200" cy="155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981125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lfa Slab One"/>
              <a:buNone/>
              <a:defRPr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67925"/>
            <a:ext cx="8520600" cy="198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0"/>
              <a:buNone/>
              <a:defRPr sz="110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2242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ameday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Alfa Slab One"/>
              <a:buNone/>
              <a:defRPr sz="3000">
                <a:solidFill>
                  <a:schemeClr val="accent3"/>
                </a:solidFill>
                <a:latin typeface="Alfa Slab One"/>
                <a:ea typeface="Alfa Slab One"/>
                <a:cs typeface="Alfa Slab One"/>
                <a:sym typeface="Alfa Slab One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roxima Nova"/>
              <a:buChar char="●"/>
              <a:defRPr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●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○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roxima Nova"/>
              <a:buChar char="■"/>
              <a:defRPr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/>
          <p:nvPr>
            <p:ph type="ctrTitle"/>
          </p:nvPr>
        </p:nvSpPr>
        <p:spPr>
          <a:xfrm>
            <a:off x="868575" y="2465325"/>
            <a:ext cx="7688100" cy="166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Nesneye Yönelik Programlama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Hafta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Scanner sınıfı nedir ve nasıl çalışır?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Scanner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sınıfı, </a:t>
            </a:r>
            <a:r>
              <a:rPr lang="tr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java.util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paketi altında yer alır ve temel görevi </a:t>
            </a: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klavyeden (konsoldan) veri okumaktır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Ancak bu yetkinliği kullanmadan önce class’ımıza Scanner sınıfını dahil etmemiz gerekmektedir. Bunun için ‘import’ deyimini kullanırız;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import java.util.Scanner;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 ettiğimiz Scanner sınıfından bir nesne oluştururuz;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Scanner scan = new Scanner(System.in);</a:t>
            </a:r>
            <a:endParaRPr b="1"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Buradaki System.in, standart giriş akışını (klavyeyi) temsil eder.</a:t>
            </a:r>
            <a:endParaRPr b="1"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0" y="170475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Peki nasıl kullanırız?</a:t>
            </a:r>
            <a:endParaRPr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0" y="953750"/>
            <a:ext cx="8928000" cy="37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 a =scan.nextInt();</a:t>
            </a:r>
            <a:r>
              <a:rPr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Klavyeden tam sayı okur.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double b =scan.nextDouble();</a:t>
            </a:r>
            <a:r>
              <a:rPr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Ondalıklı sayı okur.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c =scan.nextLine();</a:t>
            </a:r>
            <a:r>
              <a:rPr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String okur. Tüm satırı metin olarak okur.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float f =scan.nextFloat();</a:t>
            </a:r>
            <a:r>
              <a:rPr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Ondalıklı sayı okur.</a:t>
            </a:r>
            <a:endParaRPr sz="15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1"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byte d =scan.nextByte();</a:t>
            </a:r>
            <a:r>
              <a:rPr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Konsoldan çok küçük bir aralıktaki (</a:t>
            </a:r>
            <a:r>
              <a:rPr b="1"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-128 ile 127 arası</a:t>
            </a:r>
            <a:r>
              <a:rPr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tam sayıları okur. Bellek tasarrufu gereken çok özel durumlarda kullanılır.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short e =scan.nextShort();</a:t>
            </a:r>
            <a:r>
              <a:rPr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Konsoldan kısa tam sayıları (</a:t>
            </a:r>
            <a:r>
              <a:rPr b="1"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-32,768 ile 32,767 arası</a:t>
            </a:r>
            <a:r>
              <a:rPr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okur. int tipinden daha küçük, byte tipinden daha büyük bir aralığı kapsar.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1430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None/>
            </a:pPr>
            <a:r>
              <a:rPr b="1"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String c = scan.next();</a:t>
            </a:r>
            <a:r>
              <a:rPr lang="tr" sz="15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Satırdaki ilk boşluğa kadar olan kelimeyi okur.</a:t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sz="15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1875" y="246750"/>
            <a:ext cx="7653318" cy="4649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29888" y="152400"/>
            <a:ext cx="602317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Örnek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Senaryo: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Bir market için basit bir kasa programı yazmanız isteniyor. Program kullanıcıdan sırasıyla şu bilgileri almalıdır: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Ürün Adı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(String)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Birim Fiyatı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(double)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Adet/Miktar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(int)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AutoNum type="arabicPeriod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Kullanıcının Yaşı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(int)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Hesaplama Kuralları:</a:t>
            </a:r>
            <a:endParaRPr b="1"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Toplam Tutar: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Fiyat * Adet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şeklinde hesaplanır.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Yaş İndirimi: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Eğer kullanıcının yaşı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65 ve üzerindeyse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toplam tutar üzerinden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%10 emekli indirimi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uygulanır.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KDV: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İndirimli (veya indirimsiz) tutarın üzerine </a:t>
            </a: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%20 KDV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eklenmelidir.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Beklenen Çıktı:</a:t>
            </a:r>
            <a:r>
              <a:rPr lang="tr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Programın sonunda fiş benzeri bir çıktı verilmelidir. (Ürün adı, ham tutar, uygulanan indirim miktarı, KDV ve ödenecek son tutar).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Çözüm</a:t>
            </a:r>
            <a:endParaRPr/>
          </a:p>
        </p:txBody>
      </p:sp>
      <p:pic>
        <p:nvPicPr>
          <p:cNvPr id="90" name="Google Shape;9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6649" y="210900"/>
            <a:ext cx="3879150" cy="486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Diziler (Arrays)</a:t>
            </a:r>
            <a:endParaRPr/>
          </a:p>
        </p:txBody>
      </p:sp>
      <p:sp>
        <p:nvSpPr>
          <p:cNvPr id="96" name="Google Shape;96;p20"/>
          <p:cNvSpPr txBox="1"/>
          <p:nvPr>
            <p:ph idx="1" type="body"/>
          </p:nvPr>
        </p:nvSpPr>
        <p:spPr>
          <a:xfrm>
            <a:off x="311700" y="1152475"/>
            <a:ext cx="8520600" cy="38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Tanım:</a:t>
            </a:r>
            <a:r>
              <a:rPr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Aynı veri tipindeki çok sayıda değişkeni, tek bir isim altında topluca saklamamızı sağlayan veri yapılarıdır.</a:t>
            </a: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Bellek Yapısı:</a:t>
            </a:r>
            <a:r>
              <a:rPr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Diziler bellekte ardışık (yan yana) kutucuklar halinde tutulur.</a:t>
            </a: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Sabit Boyut:</a:t>
            </a:r>
            <a:r>
              <a:rPr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Bir dizi tanımlandığında boyutu belirlenir ve program çalışırken bu boyut değiştirilemez.</a:t>
            </a: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Dizileri anlamak için iki temel kavramı bilmek gerekir:</a:t>
            </a: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Arial"/>
              <a:buAutoNum type="arabicPeriod"/>
            </a:pPr>
            <a:r>
              <a:rPr b="1"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Eleman (Element):</a:t>
            </a:r>
            <a:r>
              <a:rPr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Dizinin içindeki her bir veri.</a:t>
            </a: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Arial"/>
              <a:buAutoNum type="arabicPeriod"/>
            </a:pPr>
            <a:r>
              <a:rPr b="1"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İndeks (Index):</a:t>
            </a:r>
            <a:r>
              <a:rPr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Elemanın dizideki adresidir.</a:t>
            </a: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Arial"/>
              <a:buChar char="○"/>
            </a:pPr>
            <a:r>
              <a:rPr b="1"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Önemli Not:</a:t>
            </a:r>
            <a:r>
              <a:rPr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Java'da indeksler her zaman </a:t>
            </a:r>
            <a:r>
              <a:rPr b="1"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0'dan başlar.</a:t>
            </a:r>
            <a:endParaRPr b="1"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Arial"/>
              <a:buChar char="○"/>
            </a:pPr>
            <a:r>
              <a:rPr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 elemanlı bir dizinin son indeksi n-1'dir.</a:t>
            </a: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Java'da bir diziyi kullanıma hazırlamak için üç aşama vardır:</a:t>
            </a: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Arial"/>
              <a:buChar char="●"/>
            </a:pPr>
            <a:r>
              <a:rPr b="1"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Deklarasyon (Tanımlama):</a:t>
            </a:r>
            <a:r>
              <a:rPr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r" sz="11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int[] sayilar;</a:t>
            </a:r>
            <a:endParaRPr sz="113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Arial"/>
              <a:buChar char="●"/>
            </a:pPr>
            <a:r>
              <a:rPr b="1"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Oluşturma (Bellekte Yer Açma):</a:t>
            </a:r>
            <a:r>
              <a:rPr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r" sz="11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sayilar = new int[5];</a:t>
            </a:r>
            <a:r>
              <a:rPr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(5 elemanlık yer ayırır)</a:t>
            </a:r>
            <a:endParaRPr sz="1135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0067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Arial"/>
              <a:buChar char="●"/>
            </a:pPr>
            <a:r>
              <a:rPr b="1"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İlklendirme (Değer Atama):</a:t>
            </a:r>
            <a:r>
              <a:rPr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r" sz="11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sayilar[0] = 10;</a:t>
            </a:r>
            <a:endParaRPr sz="113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b="1"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Kısa Yol (Hızlı Tanımlama):</a:t>
            </a:r>
            <a:r>
              <a:rPr lang="tr" sz="1135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r" sz="113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int[] notlar = {85, 70, 95, 40};</a:t>
            </a:r>
            <a:endParaRPr sz="1135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729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if-else yapısı	</a:t>
            </a:r>
            <a:endParaRPr/>
          </a:p>
        </p:txBody>
      </p:sp>
      <p:sp>
        <p:nvSpPr>
          <p:cNvPr id="102" name="Google Shape;10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Programın belirli bir koşula göre farklı yollar izlemesini sağlar. "Eğer bu doğruysa bunu yap, değilse şunu yap" mantığıdır.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(Eğer):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Koşul doğru (true) ise çalışacak kod bloğudur.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else if (Değilse Eğer):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İlk koşul yanlışsa, kontrol edilecek alternatif koşuldur.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else (Değilse):</a:t>
            </a:r>
            <a:r>
              <a:rPr lang="t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Yukarıdaki tüm koşullar yanlışsa, "hiçbiri olmazsa bunu yap" denilen son duraktır.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3" name="Google Shape;1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9325" y="3192724"/>
            <a:ext cx="2953200" cy="114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for döngüsü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Belirli bir kod bloğunun, belirli bir sayıda tekrar tekrar çalıştırılmasını sağlar. Dizilerle en çok kullanılan döngü türüdür.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9813" y="2109788"/>
            <a:ext cx="4524375" cy="9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3"/>
          <p:cNvSpPr txBox="1"/>
          <p:nvPr>
            <p:ph type="title"/>
          </p:nvPr>
        </p:nvSpPr>
        <p:spPr>
          <a:xfrm>
            <a:off x="253125" y="1052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Örnek - Dizideki çift sayıları bulma	</a:t>
            </a:r>
            <a:endParaRPr/>
          </a:p>
        </p:txBody>
      </p:sp>
      <p:pic>
        <p:nvPicPr>
          <p:cNvPr id="116" name="Google Shape;11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8750" y="819150"/>
            <a:ext cx="5972175" cy="350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11700" y="128875"/>
            <a:ext cx="8759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"/>
              <a:t>Örnek - Dizideki en büyük ve en küçüğü bulma</a:t>
            </a:r>
            <a:endParaRPr/>
          </a:p>
        </p:txBody>
      </p:sp>
      <p:pic>
        <p:nvPicPr>
          <p:cNvPr id="122" name="Google Shape;122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36288" y="877122"/>
            <a:ext cx="5909924" cy="3854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ameday">
  <a:themeElements>
    <a:clrScheme name="Gameday">
      <a:dk1>
        <a:srgbClr val="4285F4"/>
      </a:dk1>
      <a:lt1>
        <a:srgbClr val="FFFFFF"/>
      </a:lt1>
      <a:dk2>
        <a:srgbClr val="666666"/>
      </a:dk2>
      <a:lt2>
        <a:srgbClr val="D9D9D9"/>
      </a:lt2>
      <a:accent1>
        <a:srgbClr val="455A64"/>
      </a:accent1>
      <a:accent2>
        <a:srgbClr val="607D8B"/>
      </a:accent2>
      <a:accent3>
        <a:srgbClr val="FF5722"/>
      </a:accent3>
      <a:accent4>
        <a:srgbClr val="D84315"/>
      </a:accent4>
      <a:accent5>
        <a:srgbClr val="1C3AA9"/>
      </a:accent5>
      <a:accent6>
        <a:srgbClr val="FFAB40"/>
      </a:accent6>
      <a:hlink>
        <a:srgbClr val="1C3AA9"/>
      </a:hlink>
      <a:folHlink>
        <a:srgbClr val="1C3A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