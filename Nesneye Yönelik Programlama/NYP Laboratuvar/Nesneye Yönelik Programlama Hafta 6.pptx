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1a7d7ba63_0_1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1a7d7ba63_0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596924ec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596924ec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596924ec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596924ec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package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btu;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class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Fan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Sabitler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static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final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SLOW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1;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static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final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MEDIUM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2;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static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final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FAST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3;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Veri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alanlari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(fields)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speed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boolean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radius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String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color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Default constructor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Fan()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speed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SLOW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false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radius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5;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color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"blue"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Getter - Setter metodlarİ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getSpeed()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speed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setSpeed(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speed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speed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speed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boolean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isOn()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setOn(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boolean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getRadius()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radius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setRadius(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double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radius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radius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radius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String getColor()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color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setColor(String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color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color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color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toString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metodu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String toString()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on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"Speed: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speed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", Color: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color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", Radius: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radius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else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"Fan is off, Color: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color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      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", Radius: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+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radius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------------------------------------------------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package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btu;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class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Main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static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main(String[]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args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1. Fan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Fan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Fan();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.setSpeed(Fan.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FAST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.setRadius(10);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.setColor(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"yellow"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.setOn(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true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2. Fan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Fan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Fan();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.setSpeed(Fan.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MEDIUM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.setRadius(5);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.setColor(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"blue"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.setOn(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false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Yazdirma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System.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fan1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 u="sng">
                <a:solidFill>
                  <a:srgbClr val="0066CC"/>
                </a:solidFill>
                <a:highlight>
                  <a:srgbClr val="FFFFFF"/>
                </a:highlight>
              </a:rPr>
              <a:t>toString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());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System.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.println(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fan2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.toString());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596924ec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596924ec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596924ec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596924ec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596924ec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596924ec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96924ec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596924ec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596924ec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596924ec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package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btu;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class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StackOfIntegers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[]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elements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private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size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Default constructor (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kapasite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16)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StackOfIntegers()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this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(16);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Ayni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siniftaki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baska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bir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constructor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cagrilir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Parametreli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constructor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StackOfIntegers(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capacity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elements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capacity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];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size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0;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Stack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bos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mu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?</a:t>
            </a:r>
            <a:endParaRPr sz="1000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D4D4D4"/>
                </a:highlight>
              </a:rPr>
              <a:t>boolean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empty()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D4D4D4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D4D4D4"/>
                </a:highlight>
              </a:rPr>
              <a:t>size</a:t>
            </a:r>
            <a:r>
              <a:rPr lang="tr" sz="1000">
                <a:solidFill>
                  <a:schemeClr val="dk1"/>
                </a:solidFill>
                <a:highlight>
                  <a:srgbClr val="D4D4D4"/>
                </a:highlight>
              </a:rPr>
              <a:t> == 0;</a:t>
            </a:r>
            <a:endParaRPr sz="1000">
              <a:solidFill>
                <a:schemeClr val="dk1"/>
              </a:solidFill>
              <a:highlight>
                <a:srgbClr val="D4D4D4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Ustteki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elemani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silmeden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getir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peek()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(empty())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throw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RuntimeException(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"Stack boş!"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elements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size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- 1];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Eleman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ekle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push(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value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Eger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dizi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doluysa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kapasiteyi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artir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size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&gt;=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elements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length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[]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newArray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elements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length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* 2];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System.</a:t>
            </a:r>
            <a:r>
              <a:rPr i="1" lang="tr" sz="1000">
                <a:solidFill>
                  <a:schemeClr val="dk1"/>
                </a:solidFill>
                <a:highlight>
                  <a:srgbClr val="FFFFFF"/>
                </a:highlight>
              </a:rPr>
              <a:t>arraycopy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(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elements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0,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newArray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, 0,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elements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length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elements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newArray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elements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size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++] =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value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Eleman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cikar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pop()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if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(empty())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throw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RuntimeException(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"Stack boş!"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elements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[--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size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];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Eleman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sayisi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getSize()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return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0000C0"/>
                </a:solidFill>
                <a:highlight>
                  <a:srgbClr val="FFFFFF"/>
                </a:highlight>
              </a:rPr>
              <a:t>size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--------------------------------------------------------------</a:t>
            </a:r>
            <a:endParaRPr/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package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btu;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class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Test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public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static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void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main(String[]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args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	StackOfIntegers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stack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new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StackOfIntegers();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0'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dan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9'a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kadar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ekle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for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int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= 0;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&lt; 10;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++)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stack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.push(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i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// Stack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bosalana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kadar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cikar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ve</a:t>
            </a:r>
            <a:r>
              <a:rPr lang="tr" sz="1000">
                <a:solidFill>
                  <a:srgbClr val="3F7F5F"/>
                </a:solidFill>
                <a:highlight>
                  <a:srgbClr val="FFFFFF"/>
                </a:highlight>
              </a:rPr>
              <a:t> </a:t>
            </a:r>
            <a:r>
              <a:rPr lang="tr" sz="1000" u="sng">
                <a:solidFill>
                  <a:srgbClr val="3F7F5F"/>
                </a:solidFill>
                <a:highlight>
                  <a:srgbClr val="FFFFFF"/>
                </a:highlight>
              </a:rPr>
              <a:t>yazdir</a:t>
            </a:r>
            <a:endParaRPr sz="1000" u="sng">
              <a:solidFill>
                <a:srgbClr val="3F7F5F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</a:t>
            </a:r>
            <a:r>
              <a:rPr b="1" lang="tr" sz="1000">
                <a:solidFill>
                  <a:srgbClr val="7F0055"/>
                </a:solidFill>
                <a:highlight>
                  <a:srgbClr val="FFFFFF"/>
                </a:highlight>
              </a:rPr>
              <a:t>while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(!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stack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.empty()) {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    System.</a:t>
            </a:r>
            <a:r>
              <a:rPr b="1" i="1" lang="tr" sz="1000">
                <a:solidFill>
                  <a:srgbClr val="0000C0"/>
                </a:solidFill>
                <a:highlight>
                  <a:srgbClr val="FFFFFF"/>
                </a:highlight>
              </a:rPr>
              <a:t>out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.print(</a:t>
            </a:r>
            <a:r>
              <a:rPr lang="tr" sz="1000">
                <a:solidFill>
                  <a:srgbClr val="6A3E3E"/>
                </a:solidFill>
                <a:highlight>
                  <a:srgbClr val="FFFFFF"/>
                </a:highlight>
              </a:rPr>
              <a:t>stack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.pop() + </a:t>
            </a:r>
            <a:r>
              <a:rPr lang="tr" sz="1000">
                <a:solidFill>
                  <a:srgbClr val="2A00FF"/>
                </a:solidFill>
                <a:highlight>
                  <a:srgbClr val="FFFFFF"/>
                </a:highlight>
              </a:rPr>
              <a:t>" "</a:t>
            </a: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	}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000">
                <a:solidFill>
                  <a:schemeClr val="dk1"/>
                </a:solidFill>
                <a:highlight>
                  <a:srgbClr val="FFFFFF"/>
                </a:highlight>
              </a:rPr>
              <a:t>}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596924ec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596924ec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Nesneye Yönelik Programlama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Hafta 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Örnek 1</a:t>
            </a:r>
            <a:endParaRPr sz="3000"/>
          </a:p>
        </p:txBody>
      </p:sp>
      <p:sp>
        <p:nvSpPr>
          <p:cNvPr id="70" name="Google Shape;70;p14"/>
          <p:cNvSpPr txBox="1"/>
          <p:nvPr/>
        </p:nvSpPr>
        <p:spPr>
          <a:xfrm>
            <a:off x="279750" y="1438525"/>
            <a:ext cx="85845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 u="sng">
                <a:latin typeface="Times New Roman"/>
                <a:ea typeface="Times New Roman"/>
                <a:cs typeface="Times New Roman"/>
                <a:sym typeface="Times New Roman"/>
              </a:rPr>
              <a:t>Fan Sınıfı</a:t>
            </a:r>
            <a:r>
              <a:rPr b="1" lang="tr" sz="1300" u="sng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Bir fanı temsil etmek için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Fan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adlı bir sınıf tasarlayınız. Sınıf aşağıdaki özellikleri içermelidir: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Fan hızını belirtmek için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SLOW, MEDIUM ve FAST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adlı üç sabit tanımlayınız. Bu sabitlerin değerleri sırasıyla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1, 2 ve 3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olmalıdır.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Fanın hızını belirten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adında private bir int veri alanı tanımlayınız (Varsayılan değeri: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SLOW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Fanın açık olup olmadığını belirten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adında private bir boolean veri alanı tanımlayınız (Varsayılan değeri: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Fanın yarıçapını belirten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radius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adında private bir double veri alanı tanımlayınız (Varsayılan değeri: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Fanın rengini belirten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color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adında bir String veri alanı tanımlayınız (Varsayılan değeri: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blue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Bu dört veri alanının her biri için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getter (erişimci)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ve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setter (değiştirici)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metotlarını yazınız.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Parametre almayan (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no-arg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) bir constructor tanımlayınız. Bu constructor varsayılan bir fan nesnesi oluşturmalıdır.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toString()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adında bir metot yazınız.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Eğer fan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açıksa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, metot fanın hızını, rengini ve yarıçapını tek bir metin olarak döndürmelidir.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Eğer fan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kapalıysa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, metot fanın rengini ve yarıçapını, ayrıca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“fan kapalı”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ifadesiyle birlikte tek bir metin olarak döndürmelidir.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Örnek 1</a:t>
            </a:r>
            <a:endParaRPr sz="3000"/>
          </a:p>
        </p:txBody>
      </p:sp>
      <p:sp>
        <p:nvSpPr>
          <p:cNvPr id="76" name="Google Shape;76;p15"/>
          <p:cNvSpPr txBox="1"/>
          <p:nvPr/>
        </p:nvSpPr>
        <p:spPr>
          <a:xfrm>
            <a:off x="279750" y="1328475"/>
            <a:ext cx="85845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 İstenenler: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Times New Roman"/>
              <a:buAutoNum type="arabicPeriod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Sınıfı Java dilinde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gerçekleyiniz (implement ediniz)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AutoNum type="arabicPeriod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Bir test programı yazınız: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○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İki adet Fan nesnesi oluşturunuz.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○"/>
            </a:pP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1. nesne için: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■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hız: maksimum (FAST)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■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yarıçap: 10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■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renk: sarı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■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durum: açık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○"/>
            </a:pP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2. nesne için: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■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hız: orta (MEDIUM)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■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yarıçap: 5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■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renk: mavi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■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durum: kapalı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AutoNum type="arabicPeriod"/>
            </a:pP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Nesneleri </a:t>
            </a:r>
            <a:r>
              <a:rPr b="1" lang="tr" sz="1300">
                <a:latin typeface="Times New Roman"/>
                <a:ea typeface="Times New Roman"/>
                <a:cs typeface="Times New Roman"/>
                <a:sym typeface="Times New Roman"/>
              </a:rPr>
              <a:t>toString() metodu</a:t>
            </a:r>
            <a:r>
              <a:rPr lang="tr" sz="1300">
                <a:latin typeface="Times New Roman"/>
                <a:ea typeface="Times New Roman"/>
                <a:cs typeface="Times New Roman"/>
                <a:sym typeface="Times New Roman"/>
              </a:rPr>
              <a:t> ile ekrana yazdırınız. </a:t>
            </a:r>
            <a:endParaRPr b="1" sz="13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675" y="1302525"/>
            <a:ext cx="2349861" cy="384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0801" y="1410625"/>
            <a:ext cx="3275675" cy="34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350" y="1413100"/>
            <a:ext cx="334327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Örnek 2</a:t>
            </a:r>
            <a:endParaRPr sz="3000"/>
          </a:p>
        </p:txBody>
      </p:sp>
      <p:sp>
        <p:nvSpPr>
          <p:cNvPr id="95" name="Google Shape;95;p18"/>
          <p:cNvSpPr txBox="1"/>
          <p:nvPr/>
        </p:nvSpPr>
        <p:spPr>
          <a:xfrm>
            <a:off x="279750" y="1438525"/>
            <a:ext cx="8584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u="sng">
                <a:latin typeface="Times New Roman"/>
                <a:ea typeface="Times New Roman"/>
                <a:cs typeface="Times New Roman"/>
                <a:sym typeface="Times New Roman"/>
              </a:rPr>
              <a:t>Stack (Yığın) Sınıfı</a:t>
            </a:r>
            <a:r>
              <a:rPr b="1" lang="tr" u="sng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lang="tr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Stack (yığın), verileri </a:t>
            </a:r>
            <a:r>
              <a:rPr b="1" lang="tr">
                <a:latin typeface="Times New Roman"/>
                <a:ea typeface="Times New Roman"/>
                <a:cs typeface="Times New Roman"/>
                <a:sym typeface="Times New Roman"/>
              </a:rPr>
              <a:t>son giren ilk çıkar (LIFO – Last In First Out)</a:t>
            </a: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 mantığıyla saklayan bir veri yapısıdır.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875" y="2248125"/>
            <a:ext cx="6019026" cy="22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Örnek 2</a:t>
            </a:r>
            <a:endParaRPr sz="3000"/>
          </a:p>
        </p:txBody>
      </p:sp>
      <p:sp>
        <p:nvSpPr>
          <p:cNvPr id="102" name="Google Shape;102;p19"/>
          <p:cNvSpPr txBox="1"/>
          <p:nvPr/>
        </p:nvSpPr>
        <p:spPr>
          <a:xfrm>
            <a:off x="279750" y="1438525"/>
            <a:ext cx="85845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Java dilinde, sadece int türünde değerleri tutan </a:t>
            </a:r>
            <a:r>
              <a:rPr b="1" lang="tr">
                <a:latin typeface="Times New Roman"/>
                <a:ea typeface="Times New Roman"/>
                <a:cs typeface="Times New Roman"/>
                <a:sym typeface="Times New Roman"/>
              </a:rPr>
              <a:t>StackOfIntegers</a:t>
            </a: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 adlı bir sınıf tasarlayınız. Sınıf aşağıdaki özellikleri içermelidir: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Stack içerisindeki elemanları tutmak için elements adında int[] türünde bir dizi tanımlayınız. Stack’teki mevcut eleman sayısını tutmak için ‘size’ adında int türünde bir veri alanı tanımlayınız.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Parametresiz (no-arg) bir constructor yazınız. Bu constructor, kapasitesi </a:t>
            </a:r>
            <a:r>
              <a:rPr b="1" lang="tr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 olan boş bir stack oluşturmalıdır.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Parametre alan (capacity: int) bir constructor yazınız. Bu constructor, verilen kapasiteye sahip boş bir stack oluşturmalıdır.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empty() adında bir metot yazınız. Bu metot, stack boş ise true, değilse false döndürmelidir.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peek() adında bir metot yazınız. Bu metot, stack’in en üstündeki elemanı </a:t>
            </a:r>
            <a:r>
              <a:rPr b="1" lang="tr">
                <a:latin typeface="Times New Roman"/>
                <a:ea typeface="Times New Roman"/>
                <a:cs typeface="Times New Roman"/>
                <a:sym typeface="Times New Roman"/>
              </a:rPr>
              <a:t>silmeden</a:t>
            </a: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 döndürmelidir.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push(int value) adında bir metot yazınız. Bu metot, verilen değeri stack’in üstüne eklemelidir.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pop() adında bir metot yazınız. Bu metot, stack’in en üstündeki elemanı kaldırmalı ve geri döndürmelidir.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tr">
                <a:latin typeface="Times New Roman"/>
                <a:ea typeface="Times New Roman"/>
                <a:cs typeface="Times New Roman"/>
                <a:sym typeface="Times New Roman"/>
              </a:rPr>
              <a:t>getSize() adında bir metot yazınız. Bu metot, stack’teki eleman sayısını döndürmelidir.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tr" sz="3000"/>
              <a:t>Örnek 2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311725" y="1561950"/>
            <a:ext cx="2852700" cy="30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 İstenenler: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Sınıfı Java dilinde gerçekleyiniz (implement ediniz).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Bir test programı yazınız: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Bir adet StackOfIntegers nesnesi oluşturunuz.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Stack içerisine sırasıyla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0, 1, 2, ..., 9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 sayılarını ekleyiniz.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Stack boşalana kadar elemanları çıkararak ekrana yazdırınız.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Program çalıştırıldığında sayılar </a:t>
            </a:r>
            <a:r>
              <a:rPr b="1" lang="tr" sz="1200">
                <a:latin typeface="Times New Roman"/>
                <a:ea typeface="Times New Roman"/>
                <a:cs typeface="Times New Roman"/>
                <a:sym typeface="Times New Roman"/>
              </a:rPr>
              <a:t>ters sırada</a:t>
            </a: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 ekrana yazdırılmalıdır.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tr" sz="1200">
                <a:latin typeface="Times New Roman"/>
                <a:ea typeface="Times New Roman"/>
                <a:cs typeface="Times New Roman"/>
                <a:sym typeface="Times New Roman"/>
              </a:rPr>
              <a:t>Örnek çıktı: 9 8 7 6 5 4 3 2 1 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1550" y="1789000"/>
            <a:ext cx="5717075" cy="232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150" y="1302525"/>
            <a:ext cx="3173956" cy="371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1877" y="2229950"/>
            <a:ext cx="2915850" cy="14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0200" y="1481125"/>
            <a:ext cx="377190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