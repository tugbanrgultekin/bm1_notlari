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Roboto"/>
      <p:regular r:id="rId21"/>
      <p:bold r:id="rId22"/>
      <p:italic r:id="rId23"/>
      <p:boldItalic r:id="rId24"/>
    </p:embeddedFont>
    <p:embeddedFont>
      <p:font typeface="Roboto Mono"/>
      <p:regular r:id="rId25"/>
      <p:bold r:id="rId26"/>
      <p:italic r:id="rId27"/>
      <p:boldItalic r:id="rId28"/>
    </p:embeddedFont>
    <p:embeddedFont>
      <p:font typeface="Merriweather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Roboto-bold.fntdata"/><Relationship Id="rId21" Type="http://schemas.openxmlformats.org/officeDocument/2006/relationships/font" Target="fonts/Roboto-regular.fntdata"/><Relationship Id="rId24" Type="http://schemas.openxmlformats.org/officeDocument/2006/relationships/font" Target="fonts/Roboto-boldItalic.fntdata"/><Relationship Id="rId23" Type="http://schemas.openxmlformats.org/officeDocument/2006/relationships/font" Target="fonts/Robot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Mono-bold.fntdata"/><Relationship Id="rId25" Type="http://schemas.openxmlformats.org/officeDocument/2006/relationships/font" Target="fonts/RobotoMono-regular.fntdata"/><Relationship Id="rId28" Type="http://schemas.openxmlformats.org/officeDocument/2006/relationships/font" Target="fonts/RobotoMono-boldItalic.fntdata"/><Relationship Id="rId27" Type="http://schemas.openxmlformats.org/officeDocument/2006/relationships/font" Target="fonts/RobotoMon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erriweather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Merriweather-italic.fntdata"/><Relationship Id="rId30" Type="http://schemas.openxmlformats.org/officeDocument/2006/relationships/font" Target="fonts/Merriweather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schemas.openxmlformats.org/officeDocument/2006/relationships/font" Target="fonts/Merriweather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e5be3f5e91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e5be3f5e91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Abstract class - t</a:t>
            </a:r>
            <a:r>
              <a:rPr lang="tr"/>
              <a:t>ek sınıf extend edilir, constructor var, içerisinde gövdeli ve gövdesiz metot bulunur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e5be3f5e91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e5be3f5e91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-private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+public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# protected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e5be3f5e91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e5be3f5e91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Abstract classlar gövdeli ve gövdesiz metotlar içerebilir.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e5be3f5e91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e5be3f5e91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e5be3f5e91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e5be3f5e91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e5be3f5e91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e5be3f5e91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e5be3f5e91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e5be3f5e91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e5be3f5e91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e5be3f5e91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d1a7d7ba63_0_1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d1a7d7ba63_0_1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e5be3f5e91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e5be3f5e91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e5be3f5e91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e5be3f5e91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e5be3f5e91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e5be3f5e91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>
                <a:solidFill>
                  <a:schemeClr val="dk1"/>
                </a:solidFill>
              </a:rPr>
              <a:t>toString() metodu, bir nesneyi doğrudan yazdırmak istediğinizde veya metinsel (String) bir ifadeye dönüştürmeye çalıştığınızda o nesnenin ekranda nasıl görüneceğini belirler. 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e5be3f5e91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e5be3f5e91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e5be3f5e91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e5be3f5e91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>
                <a:solidFill>
                  <a:schemeClr val="dk1"/>
                </a:solidFill>
              </a:rPr>
              <a:t>Collections bir sınıftır (class). Collections görevi, sizin ona getirdiğiniz yapıların (ArrayList, LinkedList vb.) içindeki verileri sıralamak, ters çevirmek veya aramaktır. 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125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48099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6" name="Google Shape;16;p3"/>
          <p:cNvSpPr/>
          <p:nvPr/>
        </p:nvSpPr>
        <p:spPr>
          <a:xfrm>
            <a:off x="0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0" y="44125"/>
            <a:ext cx="4313625" cy="4399375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2" name="Google Shape;22;p4"/>
          <p:cNvSpPr/>
          <p:nvPr/>
        </p:nvSpPr>
        <p:spPr>
          <a:xfrm>
            <a:off x="-125" y="0"/>
            <a:ext cx="4316900" cy="4395600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hasCustomPrompt="1" type="title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Nesneye Yönelik Programlama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Hafta 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Abstract Sınıflar</a:t>
            </a:r>
            <a:endParaRPr/>
          </a:p>
        </p:txBody>
      </p:sp>
      <p:sp>
        <p:nvSpPr>
          <p:cNvPr id="70" name="Google Shape;70;p14"/>
          <p:cNvSpPr txBox="1"/>
          <p:nvPr>
            <p:ph idx="1" type="body"/>
          </p:nvPr>
        </p:nvSpPr>
        <p:spPr>
          <a:xfrm>
            <a:off x="311725" y="1490350"/>
            <a:ext cx="8708100" cy="3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Birine "Bana bir </a:t>
            </a:r>
            <a:r>
              <a:rPr i="1" lang="tr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Hayvan</a:t>
            </a:r>
            <a:r>
              <a:rPr lang="tr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çiz" derseniz, çizemez. Ne çizeceğini sorar; Kedi mi, Köpek mi, Kuş mu? 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tr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İşte burada </a:t>
            </a:r>
            <a:r>
              <a:rPr b="1" lang="tr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Hayvan</a:t>
            </a:r>
            <a:r>
              <a:rPr lang="tr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soyut bir kavramdır (Abstract Class). </a:t>
            </a:r>
            <a:r>
              <a:rPr b="1" lang="tr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Kedi</a:t>
            </a:r>
            <a:r>
              <a:rPr lang="tr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ve </a:t>
            </a:r>
            <a:r>
              <a:rPr b="1" lang="tr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Köpek</a:t>
            </a:r>
            <a:r>
              <a:rPr lang="tr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ise somut nesnelerdir (Concrete Class). 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tr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Soyut sınıfların 2 temel amacı vardır: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AutoNum type="arabicPeriod"/>
            </a:pPr>
            <a:r>
              <a:rPr b="1" lang="tr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Ortak Özellikleri Tek Yerde Toplamak:</a:t>
            </a:r>
            <a:r>
              <a:rPr lang="tr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Bütün alt sınıfların sahip olacağı ortak özellikleri ve metotları bir kere yazıp kod tekrarını (Kediye ayrı, köpeğe ayrı yaş değişkeni tanımlamayı) önlemek.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AutoNum type="arabicPeriod"/>
            </a:pPr>
            <a:r>
              <a:rPr b="1" lang="tr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Kendisinden Nesne Üretilmesini Engellemek:</a:t>
            </a:r>
            <a:r>
              <a:rPr lang="tr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Mantıken havada kalan, sadece şablon olması gereken bir kavramdan </a:t>
            </a:r>
            <a:r>
              <a:rPr lang="tr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new</a:t>
            </a:r>
            <a:r>
              <a:rPr lang="tr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anahtar kelimesi ile nesne yaratılmasını engellemek (</a:t>
            </a:r>
            <a:r>
              <a:rPr lang="tr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new Hayvan()</a:t>
            </a:r>
            <a:r>
              <a:rPr lang="tr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yapılamaz).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20175" y="81013"/>
            <a:ext cx="6743351" cy="498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Abstract Class Örneği</a:t>
            </a:r>
            <a:endParaRPr/>
          </a:p>
        </p:txBody>
      </p:sp>
      <p:pic>
        <p:nvPicPr>
          <p:cNvPr id="81" name="Google Shape;8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6788" y="1446950"/>
            <a:ext cx="5934075" cy="3448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Abstract Class Örneği</a:t>
            </a:r>
            <a:endParaRPr/>
          </a:p>
        </p:txBody>
      </p:sp>
      <p:sp>
        <p:nvSpPr>
          <p:cNvPr id="87" name="Google Shape;87;p17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8" name="Google Shape;8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8063" y="1381113"/>
            <a:ext cx="4067175" cy="3762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Abstract Class Örneği</a:t>
            </a:r>
            <a:endParaRPr/>
          </a:p>
        </p:txBody>
      </p:sp>
      <p:pic>
        <p:nvPicPr>
          <p:cNvPr id="94" name="Google Shape;9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875" y="1676500"/>
            <a:ext cx="7481650" cy="2969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Abstract Class Örneği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0" name="Google Shape;10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13" y="1645525"/>
            <a:ext cx="4486275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13" y="2409375"/>
            <a:ext cx="4591050" cy="57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850" y="0"/>
            <a:ext cx="6334125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057275"/>
            <a:ext cx="7313720" cy="3781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1550" y="1870225"/>
            <a:ext cx="8520600" cy="2332382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1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Ekran Çıktısı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2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tr" sz="3000"/>
              <a:t>Comparator Interface</a:t>
            </a:r>
            <a:endParaRPr sz="3000"/>
          </a:p>
        </p:txBody>
      </p:sp>
      <p:sp>
        <p:nvSpPr>
          <p:cNvPr id="119" name="Google Shape;119;p22"/>
          <p:cNvSpPr txBox="1"/>
          <p:nvPr/>
        </p:nvSpPr>
        <p:spPr>
          <a:xfrm>
            <a:off x="279775" y="1927900"/>
            <a:ext cx="8584500" cy="28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" sz="1700"/>
              <a:t>Java'da sayılardan veya metinlerden (String) oluşan bir listeyi sıralamak kolaydır; çünkü Java bunların doğal sıralamasını (küçükten büyüğe veya alfabetik) bilir. </a:t>
            </a:r>
            <a:endParaRPr sz="1700"/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tr" sz="1700"/>
              <a:t>Ancak kendi oluşturduğumuz sınıflardan (örneğin </a:t>
            </a:r>
            <a:r>
              <a:rPr lang="tr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Ogrenci</a:t>
            </a:r>
            <a:r>
              <a:rPr lang="tr" sz="1700"/>
              <a:t> sınıfı) nesneler içeren bir listeyi sıralamak istediğimizde Java'ya </a:t>
            </a:r>
            <a:r>
              <a:rPr b="1" lang="tr" sz="1700"/>
              <a:t>hangi kritere göre</a:t>
            </a:r>
            <a:r>
              <a:rPr lang="tr" sz="1700"/>
              <a:t> sıralama yapacağını söylememiz gerekir. 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000"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300" u="sng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tr" sz="3000"/>
              <a:t>Comparator Interface</a:t>
            </a:r>
            <a:endParaRPr sz="3000"/>
          </a:p>
        </p:txBody>
      </p:sp>
      <p:sp>
        <p:nvSpPr>
          <p:cNvPr id="125" name="Google Shape;125;p23"/>
          <p:cNvSpPr txBox="1"/>
          <p:nvPr/>
        </p:nvSpPr>
        <p:spPr>
          <a:xfrm>
            <a:off x="279775" y="2117650"/>
            <a:ext cx="8584500" cy="21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" sz="1600"/>
              <a:t>Öğrencileri numarasına göre mi, adına göre mi, yoksa not ortalamasına göre mi sıralayacağız? İşte </a:t>
            </a:r>
            <a:r>
              <a:rPr lang="tr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Comparator</a:t>
            </a:r>
            <a:r>
              <a:rPr lang="tr" sz="1600"/>
              <a:t> arayüzü tam bu noktada devreye girer. 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tr" sz="1600"/>
              <a:t>Orijinal </a:t>
            </a:r>
            <a:r>
              <a:rPr lang="tr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Ogrenci</a:t>
            </a:r>
            <a:r>
              <a:rPr lang="tr" sz="1600"/>
              <a:t> sınıfının kodunu hiç değiştirmeden, </a:t>
            </a:r>
            <a:r>
              <a:rPr b="1" lang="tr" sz="1600"/>
              <a:t>farklı sıralama kuralları (kriterleri)</a:t>
            </a:r>
            <a:r>
              <a:rPr lang="tr" sz="1600"/>
              <a:t> oluşturmamıza olanak tanır. </a:t>
            </a:r>
            <a:endParaRPr sz="2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000"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300" u="sng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4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tr" sz="3000"/>
              <a:t>Comparator Interface Nasıl Çalışır?</a:t>
            </a:r>
            <a:endParaRPr sz="3000"/>
          </a:p>
        </p:txBody>
      </p:sp>
      <p:sp>
        <p:nvSpPr>
          <p:cNvPr id="131" name="Google Shape;131;p24"/>
          <p:cNvSpPr txBox="1"/>
          <p:nvPr/>
        </p:nvSpPr>
        <p:spPr>
          <a:xfrm>
            <a:off x="247825" y="1718150"/>
            <a:ext cx="8772000" cy="31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Comparator</a:t>
            </a:r>
            <a:r>
              <a:rPr lang="tr" sz="1500"/>
              <a:t> arayüzünü uygulayan (implement eden) bir sınıfın ezmesi (override etmesi) gereken tek bir önemli metod vardır: </a:t>
            </a:r>
            <a:r>
              <a:rPr lang="tr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compare(T o1, T o2)</a:t>
            </a:r>
            <a:r>
              <a:rPr lang="tr" sz="1500"/>
              <a:t>. </a:t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tr" sz="1500"/>
              <a:t>Bu metod iki nesneyi karşılaştırır ve geriye </a:t>
            </a:r>
            <a:r>
              <a:rPr lang="tr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tr" sz="1500"/>
              <a:t> tipinde bir değer döndürür: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b="1" lang="tr" sz="1500"/>
              <a:t>Negatif değer (&lt; 0):</a:t>
            </a:r>
            <a:r>
              <a:rPr lang="tr" sz="1500"/>
              <a:t> Birinci nesne (o1), ikinci nesneden (o2) küçüktür (o1 başa geçer).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tr" sz="1500"/>
              <a:t>Sıfır (0):</a:t>
            </a:r>
            <a:r>
              <a:rPr lang="tr" sz="1500"/>
              <a:t> İki nesne birbirine eşittir.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tr" sz="1500"/>
              <a:t>Pozitif değer (&gt; 0):</a:t>
            </a:r>
            <a:r>
              <a:rPr lang="tr" sz="1500"/>
              <a:t> Birinci nesne (o1), ikinci nesneden (o2) büyüktür (o2 başa geçer).</a:t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000"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300" u="sng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1F1F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8638"/>
            <a:ext cx="7648824" cy="500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1F1F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92225"/>
            <a:ext cx="9143999" cy="43462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1F1F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59550"/>
            <a:ext cx="9144000" cy="45603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