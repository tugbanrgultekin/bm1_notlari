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</p:sldIdLst>
  <p:sldSz cy="6858000" cx="12192000"/>
  <p:notesSz cx="6858000" cy="9144000"/>
  <p:embeddedFontLst>
    <p:embeddedFont>
      <p:font typeface="Libre Franklin"/>
      <p:regular r:id="rId26"/>
      <p:bold r:id="rId27"/>
      <p:italic r:id="rId28"/>
      <p:boldItalic r:id="rId29"/>
    </p:embeddedFont>
    <p:embeddedFont>
      <p:font typeface="Roboto Mono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4" roundtripDataSignature="AMtx7mgDP/gdwPc0W33QpYGfVCS0SXp0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LibreFranklin-regular.fntdata"/><Relationship Id="rId25" Type="http://schemas.openxmlformats.org/officeDocument/2006/relationships/slide" Target="slides/slide21.xml"/><Relationship Id="rId28" Type="http://schemas.openxmlformats.org/officeDocument/2006/relationships/font" Target="fonts/LibreFranklin-italic.fntdata"/><Relationship Id="rId27" Type="http://schemas.openxmlformats.org/officeDocument/2006/relationships/font" Target="fonts/LibreFranklin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LibreFranklin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obotoMono-bold.fntdata"/><Relationship Id="rId30" Type="http://schemas.openxmlformats.org/officeDocument/2006/relationships/font" Target="fonts/RobotoMono-regular.fntdata"/><Relationship Id="rId11" Type="http://schemas.openxmlformats.org/officeDocument/2006/relationships/slide" Target="slides/slide7.xml"/><Relationship Id="rId33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32" Type="http://schemas.openxmlformats.org/officeDocument/2006/relationships/font" Target="fonts/RobotoMono-italic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customschemas.google.com/relationships/presentationmetadata" Target="meta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cd2fa70f48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cd2fa70f4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cd2fa70f48_1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cd2fa70f48_1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d2fa70f48_1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cd2fa70f48_1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d2fa70f48_1_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cd2fa70f48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Slaydı" showMasterSp="0" type="title">
  <p:cSld name="TITLE">
    <p:bg>
      <p:bgPr>
        <a:solidFill>
          <a:schemeClr val="lt2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9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  <a:defRPr sz="7200" cap="none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9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  <a:defRPr sz="2300"/>
            </a:lvl1pPr>
            <a:lvl2pPr lvl="1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sz="2000"/>
            </a:lvl2pPr>
            <a:lvl3pPr lvl="2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/>
            </a:lvl3pPr>
            <a:lvl4pPr lvl="3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4pPr>
            <a:lvl5pPr lvl="4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5pPr>
            <a:lvl6pPr lvl="5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6pPr>
            <a:lvl7pPr lvl="6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7pPr>
            <a:lvl8pPr lvl="7" algn="ctr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8pPr>
            <a:lvl9pPr lvl="8" algn="ctr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5" name="Google Shape;15;p19"/>
          <p:cNvSpPr txBox="1"/>
          <p:nvPr>
            <p:ph idx="10" type="dt"/>
          </p:nvPr>
        </p:nvSpPr>
        <p:spPr>
          <a:xfrm>
            <a:off x="752858" y="6453386"/>
            <a:ext cx="1607944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1" type="ftr"/>
          </p:nvPr>
        </p:nvSpPr>
        <p:spPr>
          <a:xfrm>
            <a:off x="2584054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grpSp>
        <p:nvGrpSpPr>
          <p:cNvPr id="18" name="Google Shape;18;p19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9" name="Google Shape;19;p19"/>
            <p:cNvSpPr/>
            <p:nvPr/>
          </p:nvSpPr>
          <p:spPr>
            <a:xfrm>
              <a:off x="8151962" y="1685652"/>
              <a:ext cx="3275013" cy="4408488"/>
            </a:xfrm>
            <a:custGeom>
              <a:rect b="b" l="l" r="r" t="t"/>
              <a:pathLst>
                <a:path extrusionOk="0" h="10000" w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20" name="Google Shape;20;p19"/>
            <p:cNvSpPr/>
            <p:nvPr/>
          </p:nvSpPr>
          <p:spPr>
            <a:xfrm rot="10800000">
              <a:off x="752858" y="744469"/>
              <a:ext cx="3275668" cy="4408488"/>
            </a:xfrm>
            <a:custGeom>
              <a:rect b="b" l="l" r="r" t="t"/>
              <a:pathLst>
                <a:path extrusionOk="0" h="10000" w="10002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İçerik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0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0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ölüm Üst Bilgisi" showMasterSp="0" type="secHead">
  <p:cSld name="SECTION_HEADER">
    <p:bg>
      <p:bgPr>
        <a:solidFill>
          <a:schemeClr val="dk2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"/>
          <p:cNvSpPr txBox="1"/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200"/>
              <a:buFont typeface="Libre Franklin"/>
              <a:buNone/>
              <a:defRPr sz="7200" cap="none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" type="body"/>
          </p:nvPr>
        </p:nvSpPr>
        <p:spPr>
          <a:xfrm>
            <a:off x="765025" y="4216328"/>
            <a:ext cx="9612971" cy="1143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0" name="Google Shape;30;p21"/>
          <p:cNvSpPr txBox="1"/>
          <p:nvPr>
            <p:ph idx="10" type="dt"/>
          </p:nvPr>
        </p:nvSpPr>
        <p:spPr>
          <a:xfrm>
            <a:off x="738908" y="6453386"/>
            <a:ext cx="1622409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"/>
          <p:cNvSpPr txBox="1"/>
          <p:nvPr>
            <p:ph idx="11" type="ftr"/>
          </p:nvPr>
        </p:nvSpPr>
        <p:spPr>
          <a:xfrm>
            <a:off x="2584312" y="6453386"/>
            <a:ext cx="7023377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1"/>
          <p:cNvSpPr txBox="1"/>
          <p:nvPr>
            <p:ph idx="12" type="sldNum"/>
          </p:nvPr>
        </p:nvSpPr>
        <p:spPr>
          <a:xfrm>
            <a:off x="9830683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lt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33" name="Google Shape;33;p21" title="Crop Mark"/>
          <p:cNvSpPr/>
          <p:nvPr/>
        </p:nvSpPr>
        <p:spPr>
          <a:xfrm>
            <a:off x="8151962" y="1685652"/>
            <a:ext cx="3275013" cy="4408488"/>
          </a:xfrm>
          <a:custGeom>
            <a:rect b="b" l="l" r="r" t="t"/>
            <a:pathLst>
              <a:path extrusionOk="0" h="5554" w="4125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İki İçerik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" type="body"/>
          </p:nvPr>
        </p:nvSpPr>
        <p:spPr>
          <a:xfrm>
            <a:off x="1371600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2" type="body"/>
          </p:nvPr>
        </p:nvSpPr>
        <p:spPr>
          <a:xfrm>
            <a:off x="6525403" y="2285999"/>
            <a:ext cx="4447786" cy="35814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arşılaştırma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1371600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1371600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3" type="body"/>
          </p:nvPr>
        </p:nvSpPr>
        <p:spPr>
          <a:xfrm>
            <a:off x="6525014" y="2340864"/>
            <a:ext cx="4443984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None/>
              <a:defRPr b="0" sz="3000">
                <a:solidFill>
                  <a:schemeClr val="dk2"/>
                </a:solidFill>
              </a:defRPr>
            </a:lvl1pPr>
            <a:lvl2pPr indent="-228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23"/>
          <p:cNvSpPr txBox="1"/>
          <p:nvPr>
            <p:ph idx="4" type="body"/>
          </p:nvPr>
        </p:nvSpPr>
        <p:spPr>
          <a:xfrm>
            <a:off x="6525014" y="3305207"/>
            <a:ext cx="4443984" cy="256219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>
                <a:solidFill>
                  <a:schemeClr val="dk2"/>
                </a:solidFill>
              </a:defRPr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>
                <a:solidFill>
                  <a:schemeClr val="dk2"/>
                </a:solidFill>
              </a:defRPr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>
                <a:solidFill>
                  <a:schemeClr val="dk2"/>
                </a:solidFill>
              </a:defRPr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>
                <a:solidFill>
                  <a:schemeClr val="dk2"/>
                </a:solidFill>
              </a:defRPr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>
                <a:solidFill>
                  <a:schemeClr val="dk2"/>
                </a:solidFill>
              </a:defRPr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3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3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alnızca Başlık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4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oş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5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5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İçerik" showMasterSp="0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6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6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6"/>
          <p:cNvSpPr txBox="1"/>
          <p:nvPr>
            <p:ph idx="1" type="body"/>
          </p:nvPr>
        </p:nvSpPr>
        <p:spPr>
          <a:xfrm>
            <a:off x="6256020" y="685801"/>
            <a:ext cx="5212080" cy="5175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  <a:defRPr sz="2000"/>
            </a:lvl1pPr>
            <a:lvl2pPr indent="-3556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 sz="1800"/>
            </a:lvl4pPr>
            <a:lvl5pPr indent="-3302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5pPr>
            <a:lvl6pPr indent="-3302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6pPr>
            <a:lvl7pPr indent="-3302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■"/>
              <a:defRPr sz="1600"/>
            </a:lvl7pPr>
            <a:lvl8pPr indent="-3302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Char char="–"/>
              <a:defRPr sz="1600"/>
            </a:lvl8pPr>
            <a:lvl9pPr indent="-3302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600"/>
              <a:buChar char="■"/>
              <a:defRPr sz="1600"/>
            </a:lvl9pPr>
          </a:lstStyle>
          <a:p/>
        </p:txBody>
      </p:sp>
      <p:sp>
        <p:nvSpPr>
          <p:cNvPr id="63" name="Google Shape;63;p26"/>
          <p:cNvSpPr txBox="1"/>
          <p:nvPr>
            <p:ph idx="2" type="body"/>
          </p:nvPr>
        </p:nvSpPr>
        <p:spPr>
          <a:xfrm>
            <a:off x="723900" y="2856344"/>
            <a:ext cx="3855720" cy="3011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6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6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67" name="Google Shape;67;p26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lı Resim" showMasterSp="0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7"/>
          <p:cNvSpPr txBox="1"/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800"/>
              <a:buFont typeface="Libre Franklin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/>
          <p:nvPr>
            <p:ph idx="2" type="pic"/>
          </p:nvPr>
        </p:nvSpPr>
        <p:spPr>
          <a:xfrm>
            <a:off x="5532120" y="0"/>
            <a:ext cx="6659880" cy="685799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27"/>
          <p:cNvSpPr txBox="1"/>
          <p:nvPr>
            <p:ph idx="1" type="body"/>
          </p:nvPr>
        </p:nvSpPr>
        <p:spPr>
          <a:xfrm>
            <a:off x="723900" y="2855968"/>
            <a:ext cx="3855720" cy="30114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3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4000"/>
              </a:lnSpc>
              <a:spcBef>
                <a:spcPts val="150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27"/>
          <p:cNvSpPr txBox="1"/>
          <p:nvPr>
            <p:ph idx="10" type="dt"/>
          </p:nvPr>
        </p:nvSpPr>
        <p:spPr>
          <a:xfrm>
            <a:off x="72390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7"/>
          <p:cNvSpPr txBox="1"/>
          <p:nvPr>
            <p:ph idx="11" type="ftr"/>
          </p:nvPr>
        </p:nvSpPr>
        <p:spPr>
          <a:xfrm>
            <a:off x="2205945" y="6453386"/>
            <a:ext cx="2373675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7"/>
          <p:cNvSpPr txBox="1"/>
          <p:nvPr>
            <p:ph idx="12" type="sldNum"/>
          </p:nvPr>
        </p:nvSpPr>
        <p:spPr>
          <a:xfrm>
            <a:off x="9883140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algn="r">
              <a:spcBef>
                <a:spcPts val="0"/>
              </a:spcBef>
              <a:buNone/>
              <a:defRPr sz="1200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76" name="Google Shape;76;p27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şlık ve Dikey Metin" type="vertTx">
  <p:cSld name="VERTICAL_TEX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" type="body"/>
          </p:nvPr>
        </p:nvSpPr>
        <p:spPr>
          <a:xfrm rot="5400000">
            <a:off x="4386263" y="-719137"/>
            <a:ext cx="3571875" cy="96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0" name="Google Shape;80;p2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key Başlık ve Metin" type="vertTitleAndTx">
  <p:cSld name="VERTICAL_TITLE_AND_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9"/>
          <p:cNvSpPr txBox="1"/>
          <p:nvPr>
            <p:ph type="title"/>
          </p:nvPr>
        </p:nvSpPr>
        <p:spPr>
          <a:xfrm rot="5400000">
            <a:off x="7757822" y="2462895"/>
            <a:ext cx="5243244" cy="15657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" type="body"/>
          </p:nvPr>
        </p:nvSpPr>
        <p:spPr>
          <a:xfrm rot="5400000">
            <a:off x="2839799" y="-844042"/>
            <a:ext cx="5243244" cy="81796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1pPr>
            <a:lvl2pPr indent="-342900" lvl="1" marL="914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3pPr>
            <a:lvl4pPr indent="-342900" lvl="3" marL="18288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5pPr>
            <a:lvl6pPr indent="-342900" lvl="5" marL="27432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6pPr>
            <a:lvl7pPr indent="-342900" lvl="6" marL="32004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/>
            </a:lvl7pPr>
            <a:lvl8pPr indent="-342900" lvl="7" marL="365760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Char char="–"/>
              <a:defRPr/>
            </a:lvl8pPr>
            <a:lvl9pPr indent="-342900" lvl="8" marL="411480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29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29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9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Libre Franklin"/>
              <a:buNone/>
              <a:defRPr b="0" i="0" sz="4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94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■"/>
              <a:defRPr b="0" i="0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-355600" lvl="1" marL="914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Libre Franklin"/>
              <a:buChar char="–"/>
              <a:defRPr b="0" i="1" sz="20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-342900" lvl="2" marL="1371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■"/>
              <a:defRPr b="0" i="0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-342900" lvl="3" marL="18288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ibre Franklin"/>
              <a:buChar char="–"/>
              <a:defRPr b="0" i="1" sz="18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-330200" lvl="4" marL="22860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■"/>
              <a:defRPr b="0" i="0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-330200" lvl="5" marL="27432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Libre Franklin"/>
              <a:buChar char="–"/>
              <a:defRPr b="0" i="1" sz="16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-317500" lvl="6" marL="32004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-317500" lvl="7" marL="3657600" marR="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ibre Franklin"/>
              <a:buChar char="–"/>
              <a:defRPr b="0" i="1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-317500" lvl="8" marL="4114800" marR="0" rtl="0" algn="l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Clr>
                <a:schemeClr val="dk2"/>
              </a:buClr>
              <a:buSzPts val="1400"/>
              <a:buFont typeface="Libre Franklin"/>
              <a:buChar char="■"/>
              <a:defRPr b="0" i="0" sz="14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dk2"/>
                </a:solidFill>
                <a:latin typeface="Libre Franklin"/>
                <a:ea typeface="Libre Franklin"/>
                <a:cs typeface="Libre Franklin"/>
                <a:sym typeface="Libre Frankli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tr-TR"/>
              <a:t>‹#›</a:t>
            </a:fld>
            <a:endParaRPr/>
          </a:p>
        </p:txBody>
      </p:sp>
      <p:sp>
        <p:nvSpPr>
          <p:cNvPr id="11" name="Google Shape;11;p1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Libre Franklin"/>
              <a:ea typeface="Libre Franklin"/>
              <a:cs typeface="Libre Franklin"/>
              <a:sym typeface="Libre Frankli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1368">
          <p15:clr>
            <a:srgbClr val="F26B43"/>
          </p15:clr>
        </p15:guide>
        <p15:guide id="2" orient="horz" pos="1440">
          <p15:clr>
            <a:srgbClr val="F26B43"/>
          </p15:clr>
        </p15:guide>
        <p15:guide id="3" orient="horz" pos="3696">
          <p15:clr>
            <a:srgbClr val="F26B43"/>
          </p15:clr>
        </p15:guide>
        <p15:guide id="4" orient="horz" pos="432">
          <p15:clr>
            <a:srgbClr val="F26B43"/>
          </p15:clr>
        </p15:guide>
        <p15:guide id="5" orient="horz" pos="1512">
          <p15:clr>
            <a:srgbClr val="F26B43"/>
          </p15:clr>
        </p15:guide>
        <p15:guide id="6" pos="6912">
          <p15:clr>
            <a:srgbClr val="F26B43"/>
          </p15:clr>
        </p15:guide>
        <p15:guide id="7" pos="936">
          <p15:clr>
            <a:srgbClr val="F26B43"/>
          </p15:clr>
        </p15:guide>
        <p15:guide id="8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www.oracle.com/java/technologies/downloads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eclipse.org/downloads/" TargetMode="External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9.pn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>
            <p:ph type="ctrTitle"/>
          </p:nvPr>
        </p:nvSpPr>
        <p:spPr>
          <a:xfrm>
            <a:off x="1915128" y="1788454"/>
            <a:ext cx="8361229" cy="209822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Font typeface="Libre Franklin"/>
              <a:buNone/>
            </a:pPr>
            <a:r>
              <a:rPr lang="tr-TR"/>
              <a:t>NESNEYE DAYALI PROGRAMLAMA</a:t>
            </a:r>
            <a:endParaRPr/>
          </a:p>
        </p:txBody>
      </p:sp>
      <p:sp>
        <p:nvSpPr>
          <p:cNvPr id="94" name="Google Shape;94;p1"/>
          <p:cNvSpPr txBox="1"/>
          <p:nvPr>
            <p:ph idx="1" type="subTitle"/>
          </p:nvPr>
        </p:nvSpPr>
        <p:spPr>
          <a:xfrm>
            <a:off x="2679906" y="3956279"/>
            <a:ext cx="6831673" cy="10862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300"/>
              <a:buNone/>
            </a:pPr>
            <a:r>
              <a:rPr lang="tr-TR"/>
              <a:t>HAFTA 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için Kullanılabilecek Editörler</a:t>
            </a:r>
            <a:endParaRPr/>
          </a:p>
        </p:txBody>
      </p:sp>
      <p:sp>
        <p:nvSpPr>
          <p:cNvPr id="100" name="Google Shape;100;p2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</a:pPr>
            <a:r>
              <a:rPr b="1"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 Beans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</a:pPr>
            <a:r>
              <a:rPr b="1"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Eclipse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84048" lvl="1" marL="914400" rtl="0" algn="l">
              <a:lnSpc>
                <a:spcPct val="94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Kurulumu İçin Gerekli Paket: JDK (Java Development Kit)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Link: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tr-TR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https://www.oracle.com/java/technologies/downloads/</a:t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1" marL="530352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programı geliştirmek için gerekli tüm araçları içerir: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Compiler (javac)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JVM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Kütüphaneler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tr-TR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Debug araçları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lang="tr-TR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 için Kullanılabilecek Editörler</a:t>
            </a:r>
            <a:endParaRPr sz="3200"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tr-TR">
                <a:latin typeface="Times New Roman"/>
                <a:ea typeface="Times New Roman"/>
                <a:cs typeface="Times New Roman"/>
                <a:sym typeface="Times New Roman"/>
              </a:rPr>
              <a:t>JRE (Java Runtime Environment)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Java ile yazılmış programları çalıştırmak için gereklidir.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Güncel JDK paketlerinin içinde yer alır.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Ayrı olarak indirilmeye gerek yoktur.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Güncel Java sürümlerinde ayrı bir </a:t>
            </a:r>
            <a:r>
              <a:rPr b="1" lang="tr-TR">
                <a:latin typeface="Times New Roman"/>
                <a:ea typeface="Times New Roman"/>
                <a:cs typeface="Times New Roman"/>
                <a:sym typeface="Times New Roman"/>
              </a:rPr>
              <a:t>JRE (Java Runtime Environment) 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kurulmasına gerek yoktur.</a:t>
            </a:r>
            <a:endParaRPr/>
          </a:p>
          <a:p>
            <a:pPr indent="-384048" lvl="1" marL="914400" rtl="0" algn="l">
              <a:lnSpc>
                <a:spcPct val="94000"/>
              </a:lnSpc>
              <a:spcBef>
                <a:spcPts val="700"/>
              </a:spcBef>
              <a:spcAft>
                <a:spcPts val="0"/>
              </a:spcAft>
              <a:buClr>
                <a:schemeClr val="dk2"/>
              </a:buClr>
              <a:buSzPts val="2000"/>
              <a:buChar char="–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Modern </a:t>
            </a:r>
            <a:r>
              <a:rPr b="1" lang="tr-TR">
                <a:latin typeface="Times New Roman"/>
                <a:ea typeface="Times New Roman"/>
                <a:cs typeface="Times New Roman"/>
                <a:sym typeface="Times New Roman"/>
              </a:rPr>
              <a:t>Java Development Kit (JDK) 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paketi, Java uygulamalarını çalıştırmak için gerekli olan JRE bileşenlerini zaten kendi içinde barındırmaktadır.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Times New Roman"/>
              <a:buNone/>
            </a:pPr>
            <a:r>
              <a:rPr b="1" lang="tr-TR" sz="3600">
                <a:latin typeface="Times New Roman"/>
                <a:ea typeface="Times New Roman"/>
                <a:cs typeface="Times New Roman"/>
                <a:sym typeface="Times New Roman"/>
              </a:rPr>
              <a:t>Eclipse Kurulum Aşamaları</a:t>
            </a:r>
            <a:br>
              <a:rPr lang="tr-TR"/>
            </a:br>
            <a:br>
              <a:rPr lang="tr-TR"/>
            </a:b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1371600" y="1865376"/>
            <a:ext cx="9601200" cy="40020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Resmi sitesinden indirme işlemini gerçekleştiriniz. 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Link:  </a:t>
            </a:r>
            <a:r>
              <a:rPr lang="tr-TR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https://www.eclipse.org/downloads/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049904" y="2997079"/>
            <a:ext cx="6907911" cy="31751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ibre Franklin"/>
              <a:buNone/>
            </a:pPr>
            <a:r>
              <a:rPr b="1" lang="tr-TR" sz="3600"/>
              <a:t>Kurulum Aşaması - 1</a:t>
            </a:r>
            <a:br>
              <a:rPr lang="tr-TR"/>
            </a:br>
            <a:br>
              <a:rPr lang="tr-TR"/>
            </a:br>
            <a:endParaRPr/>
          </a:p>
        </p:txBody>
      </p:sp>
      <p:pic>
        <p:nvPicPr>
          <p:cNvPr id="119" name="Google Shape;119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8056" y="1400174"/>
            <a:ext cx="4831644" cy="4876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- 2</a:t>
            </a:r>
            <a:endParaRPr sz="3200"/>
          </a:p>
        </p:txBody>
      </p:sp>
      <p:pic>
        <p:nvPicPr>
          <p:cNvPr descr="metin, elektronik donanım, ekran görüntüsü, web sayfası içeren bir resim&#10;&#10;Yapay zeka tarafından oluşturulmuş içerik yanlış olabilir." id="125" name="Google Shape;125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44962" y="1534150"/>
            <a:ext cx="4587558" cy="463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- 3</a:t>
            </a:r>
            <a:endParaRPr sz="3200"/>
          </a:p>
        </p:txBody>
      </p:sp>
      <p:pic>
        <p:nvPicPr>
          <p:cNvPr descr="metin, elektronik donanım, ekran görüntüsü, yazı tipi içeren bir resim&#10;&#10;Yapay zeka tarafından oluşturulmuş içerik yanlış olabilir." id="131" name="Google Shape;13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82895" y="1591056"/>
            <a:ext cx="4443447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- 4</a:t>
            </a:r>
            <a:endParaRPr sz="3200"/>
          </a:p>
        </p:txBody>
      </p:sp>
      <p:pic>
        <p:nvPicPr>
          <p:cNvPr descr="metin, ekran görüntüsü, yazılım, web sayfası içeren bir resim&#10;&#10;Yapay zeka tarafından oluşturulmuş içerik yanlış olabilir." id="137" name="Google Shape;137;p8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73806" y="1482943"/>
            <a:ext cx="4731866" cy="481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- 5</a:t>
            </a:r>
            <a:endParaRPr sz="3200"/>
          </a:p>
        </p:txBody>
      </p:sp>
      <p:pic>
        <p:nvPicPr>
          <p:cNvPr descr="metin, ekran görüntüsü, yazılım, web sayfası içeren bir resim&#10;&#10;Yapay zeka tarafından oluşturulmuş içerik yanlış olabilir." id="143" name="Google Shape;143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57946" y="1569540"/>
            <a:ext cx="4552475" cy="46026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-6</a:t>
            </a:r>
            <a:endParaRPr sz="3200"/>
          </a:p>
        </p:txBody>
      </p:sp>
      <p:pic>
        <p:nvPicPr>
          <p:cNvPr descr="metin, ekran görüntüsü, yazı tipi, yazılım içeren bir resim&#10;&#10;Yapay zeka tarafından oluşturulmuş içerik yanlış olabilir." id="149" name="Google Shape;149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7839" y="2171700"/>
            <a:ext cx="5372850" cy="25340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1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- 7</a:t>
            </a:r>
            <a:endParaRPr sz="3200"/>
          </a:p>
        </p:txBody>
      </p:sp>
      <p:pic>
        <p:nvPicPr>
          <p:cNvPr descr="metin, ekran görüntüsü, yazılım, bilgisayar içeren bir resim&#10;&#10;Yapay zeka tarafından oluşturulmuş içerik yanlış olabilir." id="155" name="Google Shape;155;p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55083" y="1563624"/>
            <a:ext cx="8517717" cy="45232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2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- 8</a:t>
            </a:r>
            <a:endParaRPr sz="3200"/>
          </a:p>
        </p:txBody>
      </p:sp>
      <p:pic>
        <p:nvPicPr>
          <p:cNvPr descr="metin, ekran görüntüsü, sayı, numara, yazılım içeren bir resim&#10;&#10;Yapay zeka tarafından oluşturulmuş içerik yanlış olabilir." id="161" name="Google Shape;161;p1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7836" y="1696222"/>
            <a:ext cx="4311531" cy="46009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- 9</a:t>
            </a:r>
            <a:endParaRPr sz="3200"/>
          </a:p>
        </p:txBody>
      </p:sp>
      <p:pic>
        <p:nvPicPr>
          <p:cNvPr descr="metin, ekran görüntüsü, yazılım, sayı, numara içeren bir resim&#10;&#10;Yapay zeka tarafından oluşturulmuş içerik yanlış olabilir." id="167" name="Google Shape;167;p1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1250" y="391500"/>
            <a:ext cx="6675900" cy="64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- 10</a:t>
            </a:r>
            <a:endParaRPr sz="3200"/>
          </a:p>
        </p:txBody>
      </p:sp>
      <p:pic>
        <p:nvPicPr>
          <p:cNvPr descr="metin, ekran görüntüsü, sayı, numara, yazılım içeren bir resim&#10;&#10;Yapay zeka tarafından oluşturulmuş içerik yanlış olabilir." id="173" name="Google Shape;173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00821" y="1428750"/>
            <a:ext cx="4246151" cy="50591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Kurulum Aşaması - 11</a:t>
            </a:r>
            <a:endParaRPr sz="3200"/>
          </a:p>
        </p:txBody>
      </p:sp>
      <p:pic>
        <p:nvPicPr>
          <p:cNvPr descr="metin, ekran görüntüsü, yazılım, bilgisayar simgesi içeren bir resim&#10;&#10;Yapay zeka tarafından oluşturulmuş içerik yanlış olabilir." id="179" name="Google Shape;179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39510" y="1666910"/>
            <a:ext cx="3854681" cy="45052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Libre Franklin"/>
              <a:buNone/>
            </a:pPr>
            <a:r>
              <a:rPr b="1" lang="tr-TR" sz="3200"/>
              <a:t>Örnek- 1</a:t>
            </a:r>
            <a:endParaRPr sz="3200"/>
          </a:p>
        </p:txBody>
      </p:sp>
      <p:pic>
        <p:nvPicPr>
          <p:cNvPr descr="metin, ekran görüntüsü, yazılım, web sayfası içeren bir resim&#10;&#10;Yapay zeka tarafından oluşturulmuş içerik yanlış olabilir." id="185" name="Google Shape;185;p1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4650" y="1501150"/>
            <a:ext cx="8654400" cy="444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89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Times New Roman"/>
              <a:buNone/>
            </a:pPr>
            <a:r>
              <a:rPr b="1" lang="tr-TR" sz="3200">
                <a:latin typeface="Times New Roman"/>
                <a:ea typeface="Times New Roman"/>
                <a:cs typeface="Times New Roman"/>
                <a:sym typeface="Times New Roman"/>
              </a:rPr>
              <a:t>JOptionPane Nedir?</a:t>
            </a:r>
            <a:br>
              <a:rPr b="1" lang="tr-TR"/>
            </a:br>
            <a:endParaRPr/>
          </a:p>
        </p:txBody>
      </p:sp>
      <p:sp>
        <p:nvSpPr>
          <p:cNvPr id="191" name="Google Shape;191;p17"/>
          <p:cNvSpPr txBox="1"/>
          <p:nvPr>
            <p:ph idx="1" type="body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4048" lvl="0" marL="384048" rtl="0" algn="l">
              <a:lnSpc>
                <a:spcPct val="9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b="1" lang="tr-TR">
                <a:latin typeface="Times New Roman"/>
                <a:ea typeface="Times New Roman"/>
                <a:cs typeface="Times New Roman"/>
                <a:sym typeface="Times New Roman"/>
              </a:rPr>
              <a:t>JOptionPane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, Java’nın </a:t>
            </a:r>
            <a:r>
              <a:rPr b="1" lang="tr-TR">
                <a:latin typeface="Times New Roman"/>
                <a:ea typeface="Times New Roman"/>
                <a:cs typeface="Times New Roman"/>
                <a:sym typeface="Times New Roman"/>
              </a:rPr>
              <a:t>Swing GUI</a:t>
            </a: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 kütüphanesine ait bir sınıftır.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Pencere (popup) mesajları oluşturmak için kullanılır.</a:t>
            </a:r>
            <a:endParaRPr/>
          </a:p>
          <a:p>
            <a:pPr indent="-384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Char char="■"/>
            </a:pPr>
            <a:r>
              <a:rPr lang="tr-TR">
                <a:latin typeface="Times New Roman"/>
                <a:ea typeface="Times New Roman"/>
                <a:cs typeface="Times New Roman"/>
                <a:sym typeface="Times New Roman"/>
              </a:rPr>
              <a:t>Paketi: </a:t>
            </a:r>
            <a:r>
              <a:rPr b="1" lang="tr-TR">
                <a:latin typeface="Times New Roman"/>
                <a:ea typeface="Times New Roman"/>
                <a:cs typeface="Times New Roman"/>
                <a:sym typeface="Times New Roman"/>
              </a:rPr>
              <a:t>import javax.swing.JOptionPane;</a:t>
            </a:r>
            <a:endParaRPr/>
          </a:p>
          <a:p>
            <a:pPr indent="-257048" lvl="0" marL="384048" rtl="0" algn="l">
              <a:lnSpc>
                <a:spcPct val="94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None/>
            </a:pPr>
            <a:r>
              <a:t/>
            </a:r>
            <a:endParaRPr/>
          </a:p>
        </p:txBody>
      </p:sp>
      <p:pic>
        <p:nvPicPr>
          <p:cNvPr id="192" name="Google Shape;1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10425" y="3162300"/>
            <a:ext cx="4480917" cy="3195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cd2fa70f48_1_0"/>
          <p:cNvSpPr txBox="1"/>
          <p:nvPr>
            <p:ph type="title"/>
          </p:nvPr>
        </p:nvSpPr>
        <p:spPr>
          <a:xfrm>
            <a:off x="1102300" y="219025"/>
            <a:ext cx="9601200" cy="684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showMessageDialog (Bilgi Verme)</a:t>
            </a:r>
            <a:endParaRPr/>
          </a:p>
        </p:txBody>
      </p:sp>
      <p:sp>
        <p:nvSpPr>
          <p:cNvPr id="198" name="Google Shape;198;g3cd2fa70f48_1_0"/>
          <p:cNvSpPr txBox="1"/>
          <p:nvPr>
            <p:ph idx="1" type="body"/>
          </p:nvPr>
        </p:nvSpPr>
        <p:spPr>
          <a:xfrm>
            <a:off x="1102300" y="1029275"/>
            <a:ext cx="11023800" cy="2378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Sadece kullanıcıya bir mesaj göstermek için kullanılır. 4 parametre alır:</a:t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JOptionPane.showMessageDialog(null, "Mesaj", "Başlık", JOptionPane.INFORMATION_MESSAGE);</a:t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t/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40"/>
              <a:buFont typeface="Arial"/>
              <a:buNone/>
            </a:pPr>
            <a:r>
              <a:t/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İkon Tipleri:</a:t>
            </a:r>
            <a:r>
              <a:rPr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tr-TR" sz="155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INFORMATION_MESSAGE</a:t>
            </a:r>
            <a:r>
              <a:rPr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tr-TR" sz="155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WARNING_MESSAGE</a:t>
            </a:r>
            <a:r>
              <a:rPr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tr-TR" sz="1553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ERROR_MESSAGE</a:t>
            </a:r>
            <a:r>
              <a:rPr lang="tr-TR" sz="1553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gibi seçeneklerle penceredeki ikonu değiştirebilirsiniz.</a:t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7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54"/>
              <a:buFont typeface="Arial"/>
              <a:buChar char="●"/>
            </a:pPr>
            <a:r>
              <a:rPr b="1"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INFORMATION_MESSAGE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Mavi bir "i" harfi. Bilgi vermek için.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7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Font typeface="Arial"/>
              <a:buChar char="●"/>
            </a:pPr>
            <a:r>
              <a:rPr b="1"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WARNING_MESSAGE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Sarı bir ünlem üçgeni. Dikkat çekmek için.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7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Font typeface="Arial"/>
              <a:buChar char="●"/>
            </a:pPr>
            <a:r>
              <a:rPr b="1"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ERROR_MESSAGE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Kırmızı bir çarpı veya dur işareti. Hata bildirmek için.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7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Font typeface="Arial"/>
              <a:buChar char="●"/>
            </a:pPr>
            <a:r>
              <a:rPr b="1"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QUESTION_MESSAGE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Mavi bir soru işareti. (Genelde onay kutularında kullanılır).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727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4"/>
              <a:buFont typeface="Arial"/>
              <a:buChar char="●"/>
            </a:pPr>
            <a:r>
              <a:rPr b="1"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PLAIN_MESSAGE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Hiç ikon koymaz, sadece düz metin gösterir.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5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4000"/>
              </a:lnSpc>
              <a:spcBef>
                <a:spcPts val="1200"/>
              </a:spcBef>
              <a:spcAft>
                <a:spcPts val="200"/>
              </a:spcAft>
              <a:buSzPts val="440"/>
              <a:buNone/>
            </a:pPr>
            <a:r>
              <a:t/>
            </a:r>
            <a:endParaRPr sz="1400"/>
          </a:p>
        </p:txBody>
      </p:sp>
      <p:pic>
        <p:nvPicPr>
          <p:cNvPr id="199" name="Google Shape;199;g3cd2fa70f48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3888" y="2016725"/>
            <a:ext cx="8905875" cy="1133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d2fa70f48_1_10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tr-TR" sz="29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showInputDialog (Veri Alma)</a:t>
            </a:r>
            <a:endParaRPr b="1" sz="2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g3cd2fa70f48_1_10"/>
          <p:cNvSpPr txBox="1"/>
          <p:nvPr>
            <p:ph idx="1" type="body"/>
          </p:nvPr>
        </p:nvSpPr>
        <p:spPr>
          <a:xfrm>
            <a:off x="1295400" y="1361425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Kullanıcıdan metin girişi almak için kullanılır.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Kritik Nokta: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 metodun her zaman bir </a:t>
            </a:r>
            <a:r>
              <a:rPr b="1"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döndürür. Eğer sayı alacaksak </a:t>
            </a:r>
            <a:r>
              <a:rPr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Integer.parseInt()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ile dönüştürmemiz gerekecek.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</a:pPr>
            <a:r>
              <a:rPr b="1"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İptal Kontrolü: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Kodda yapılan </a:t>
            </a:r>
            <a:r>
              <a:rPr lang="tr-TR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null</a:t>
            </a:r>
            <a:r>
              <a:rPr lang="tr-T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kontrolü çok önemli. Kullanıcı "Cancel" (İptal) butonuna basarsa programın hata vermemesi için bu kontrol şart.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tr-T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 yas = JOptionPane.showInputDialog(null, "Kaç yaşındasın?", "Yaş Sorgusu", JOptionPane.QUESTION_MESSAGE);</a:t>
            </a:r>
            <a:endParaRPr b="1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9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4400"/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t/>
            </a:r>
            <a:endParaRPr/>
          </a:p>
        </p:txBody>
      </p:sp>
      <p:pic>
        <p:nvPicPr>
          <p:cNvPr id="206" name="Google Shape;206;g3cd2fa70f48_1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20750" y="2956225"/>
            <a:ext cx="7848600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cd2fa70f48_1_18"/>
          <p:cNvSpPr txBox="1"/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showConfirmDialog (Onay Alma)</a:t>
            </a:r>
            <a:endParaRPr/>
          </a:p>
        </p:txBody>
      </p:sp>
      <p:sp>
        <p:nvSpPr>
          <p:cNvPr id="212" name="Google Shape;212;g3cd2fa70f48_1_18"/>
          <p:cNvSpPr txBox="1"/>
          <p:nvPr>
            <p:ph idx="1" type="body"/>
          </p:nvPr>
        </p:nvSpPr>
        <p:spPr>
          <a:xfrm>
            <a:off x="1443400" y="1531975"/>
            <a:ext cx="10539300" cy="2683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Kullanıcıya "Evet/Hayır/İptal" seçenekleri sunar.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b="1"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Dönüş Tipi: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Bu metod bir </a:t>
            </a:r>
            <a:r>
              <a:rPr b="1"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döndürür. Bu sayısal değerleri (0, 1, 2) ezberlemek yerine </a:t>
            </a:r>
            <a:r>
              <a:rPr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JOptionPane.YES_OPTION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gibi sabitleri kullanmak daha güvenlidir.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JOptionPane.YES_NO_OPTION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Sadece "Evet" ve "Hayır" butonlarını çıkarır.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JOptionPane.YES_NO_CANCEL_OPTION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"Evet", "Hayır" ve "İptal" butonlarını çıkarır.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Kullanıcı bir butona bastığında metot bize şu sayıları döndürür: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b="1"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JOptionPane.YES_OPTION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(0 değerini döndürür): Kullanıcı "Evet" dedi.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b="1"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JOptionPane.NO_OPTION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(1 değerini döndürür): Kullanıcı "Hayır" dedi.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b="1"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JOptionPane.CANCEL_OPTION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(2 değerini döndürür): Kullanıcı "İptal" dedi.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6881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75"/>
              <a:buFont typeface="Arial"/>
              <a:buChar char="●"/>
            </a:pPr>
            <a:r>
              <a:rPr b="1" lang="tr-TR" sz="1075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-1</a:t>
            </a:r>
            <a:r>
              <a:rPr b="1"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değeri</a:t>
            </a:r>
            <a:r>
              <a:rPr lang="tr-TR" sz="1075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Kullanıcı pencereyi sağ üstteki "X" butonundan kapattı.</a:t>
            </a:r>
            <a:endParaRPr sz="1075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523"/>
              <a:buNone/>
            </a:pPr>
            <a:r>
              <a:t/>
            </a:r>
            <a:endParaRPr sz="722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84000"/>
              </a:lnSpc>
              <a:spcBef>
                <a:spcPts val="1200"/>
              </a:spcBef>
              <a:spcAft>
                <a:spcPts val="200"/>
              </a:spcAft>
              <a:buSzPts val="523"/>
              <a:buNone/>
            </a:pPr>
            <a:r>
              <a:t/>
            </a:r>
            <a:endParaRPr sz="1150"/>
          </a:p>
        </p:txBody>
      </p:sp>
      <p:pic>
        <p:nvPicPr>
          <p:cNvPr id="213" name="Google Shape;213;g3cd2fa70f48_1_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7575" y="4044823"/>
            <a:ext cx="3766475" cy="2158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g3cd2fa70f48_1_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91363" y="4639063"/>
            <a:ext cx="6791325" cy="115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cd2fa70f48_1_30"/>
          <p:cNvSpPr txBox="1"/>
          <p:nvPr>
            <p:ph type="title"/>
          </p:nvPr>
        </p:nvSpPr>
        <p:spPr>
          <a:xfrm>
            <a:off x="1371600" y="685800"/>
            <a:ext cx="9601200" cy="729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tr-TR"/>
              <a:t>showOptionDialog (Özel)</a:t>
            </a:r>
            <a:endParaRPr/>
          </a:p>
        </p:txBody>
      </p:sp>
      <p:sp>
        <p:nvSpPr>
          <p:cNvPr id="220" name="Google Shape;220;g3cd2fa70f48_1_30"/>
          <p:cNvSpPr txBox="1"/>
          <p:nvPr>
            <p:ph idx="1" type="body"/>
          </p:nvPr>
        </p:nvSpPr>
        <p:spPr>
          <a:xfrm>
            <a:off x="1371600" y="1414800"/>
            <a:ext cx="9601200" cy="3581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showOptionDialog</a:t>
            </a: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standart butonlardan (Evet/Hayır) sıkıldığımızda, kullanıcıya </a:t>
            </a: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kendi belirlediğimiz seçenekleri</a:t>
            </a: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(Örn: "Kırmızı", "Mavi", "Yeşil") sunmamıza olanak tanır. 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 metot aslında diğer tüm pencerelerin (Message, Input, Confirm) birleşmiş ve özelleştirilebilir halidir.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 metot bir </a:t>
            </a:r>
            <a:r>
              <a:rPr b="1" lang="tr-TR" sz="13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döndürür. Ancak burada dönen sayı, 7. parametrede verdiğimiz </a:t>
            </a: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dizinin indeksidir.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Eğer kullanıcı dizinin ilk elemanına (0. indeks) basarsa: </a:t>
            </a: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döner.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İkinci elemana basarsa: </a:t>
            </a: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döner.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●"/>
            </a:pP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Pencereyi kapatırsa: </a:t>
            </a: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döner.</a:t>
            </a:r>
            <a:endParaRPr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String[] renkler = {"Kırmızı", "Mavi", "Yeşil"}; 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200"/>
              </a:spcAft>
              <a:buNone/>
            </a:pPr>
            <a:r>
              <a:rPr b="1" lang="tr-TR" sz="1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 secim = JOptionPane.showOptionDialog(null, "Favori renginizi seçiniz:", ..., renkler, renkler[0]);</a:t>
            </a:r>
            <a:endParaRPr b="1" sz="13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cd2fa70f48_1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71788" y="4484775"/>
            <a:ext cx="818197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ırpma">
  <a:themeElements>
    <a:clrScheme name="Kırpma">
      <a:dk1>
        <a:srgbClr val="000000"/>
      </a:dk1>
      <a:lt1>
        <a:srgbClr val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2026-03-01T13:49:57Z</dcterms:created>
  <dc:creator>zeynep barut</dc:creator>
</cp:coreProperties>
</file>